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4" r:id="rId5"/>
  </p:sldMasterIdLst>
  <p:notesMasterIdLst>
    <p:notesMasterId r:id="rId23"/>
  </p:notesMasterIdLst>
  <p:handoutMasterIdLst>
    <p:handoutMasterId r:id="rId24"/>
  </p:handoutMasterIdLst>
  <p:sldIdLst>
    <p:sldId id="303" r:id="rId6"/>
    <p:sldId id="297" r:id="rId7"/>
    <p:sldId id="309" r:id="rId8"/>
    <p:sldId id="397" r:id="rId9"/>
    <p:sldId id="442" r:id="rId10"/>
    <p:sldId id="453" r:id="rId11"/>
    <p:sldId id="449" r:id="rId12"/>
    <p:sldId id="454" r:id="rId13"/>
    <p:sldId id="455" r:id="rId14"/>
    <p:sldId id="450" r:id="rId15"/>
    <p:sldId id="457" r:id="rId16"/>
    <p:sldId id="398" r:id="rId17"/>
    <p:sldId id="458" r:id="rId18"/>
    <p:sldId id="368" r:id="rId19"/>
    <p:sldId id="456" r:id="rId20"/>
    <p:sldId id="459" r:id="rId21"/>
    <p:sldId id="295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DB879949-2F60-4808-A162-D64120731F69}">
          <p14:sldIdLst>
            <p14:sldId id="303"/>
            <p14:sldId id="297"/>
            <p14:sldId id="309"/>
            <p14:sldId id="397"/>
            <p14:sldId id="442"/>
            <p14:sldId id="453"/>
            <p14:sldId id="449"/>
            <p14:sldId id="454"/>
            <p14:sldId id="455"/>
            <p14:sldId id="450"/>
            <p14:sldId id="457"/>
            <p14:sldId id="398"/>
            <p14:sldId id="458"/>
            <p14:sldId id="368"/>
            <p14:sldId id="456"/>
            <p14:sldId id="459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안혜영" initials="안" lastIdx="3" clrIdx="0">
    <p:extLst>
      <p:ext uri="{19B8F6BF-5375-455C-9EA6-DF929625EA0E}">
        <p15:presenceInfo xmlns:p15="http://schemas.microsoft.com/office/powerpoint/2012/main" userId="S::hyahn@ati2000.co.kr::ea9588c1-7d88-44e4-af2a-597800d0f09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5555FD"/>
    <a:srgbClr val="FFFFFF"/>
    <a:srgbClr val="010101"/>
    <a:srgbClr val="9E9EFE"/>
    <a:srgbClr val="A3C7E7"/>
    <a:srgbClr val="FFE2DD"/>
    <a:srgbClr val="FFEEEB"/>
    <a:srgbClr val="FFDFD9"/>
    <a:srgbClr val="FFCF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11" autoAdjust="0"/>
    <p:restoredTop sz="78141" autoAdjust="0"/>
  </p:normalViewPr>
  <p:slideViewPr>
    <p:cSldViewPr snapToGrid="0">
      <p:cViewPr>
        <p:scale>
          <a:sx n="50" d="100"/>
          <a:sy n="50" d="100"/>
        </p:scale>
        <p:origin x="570" y="8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EBF4-8E9E-4EEF-A1AD-6BC109FD57A9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0686FA-589B-45F9-AF38-9C3EF7151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755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848644-31AA-42AE-9781-A6457094CA6F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3CE4C5-166D-4F9E-9D6C-812F301C01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2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선행 </a:t>
            </a:r>
            <a:r>
              <a:rPr lang="en-US" altLang="ko-KR" dirty="0"/>
              <a:t>SW </a:t>
            </a:r>
            <a:r>
              <a:rPr lang="ko-KR" altLang="en-US" dirty="0"/>
              <a:t>그룹</a:t>
            </a:r>
            <a:r>
              <a:rPr lang="en-US" altLang="ko-KR" dirty="0"/>
              <a:t> </a:t>
            </a:r>
            <a:r>
              <a:rPr lang="ko-KR" altLang="en-US" dirty="0"/>
              <a:t>알고리즘 파트 안광윤 입니다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491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960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BC9-B871-628B-2EF6-BCDCB7E6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97CE4B-5AC2-BC03-F5CE-855E6CFDE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01001F-09D4-B9AD-7FD9-4807AA8A3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7ACC49-8BB3-0E4B-3FCA-A366E4199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039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2F31-4242-9651-2CD4-B32FDEE2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F28755-FE1B-E4BB-4B9B-A35D0114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40CF90-1E4F-2B1D-9E5F-D27A3E85E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EA8864-8140-CA37-0DD3-8DC9779E9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075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26282-32E6-3706-4E97-5431968E1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761E25-0541-9996-B002-D1F7479B5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F0DB56-26A1-1694-6FEA-6DBB5E355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30D038-5104-8E7A-DC74-ABA9D8B9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547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E18A-1293-5B8F-3752-A80ECD50A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5B709E-3C69-8F1E-A0C6-EE3EB2CD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71B7C0-5C2A-572D-92F8-296A801D9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9C0D95-A329-48C6-EA86-0FB04B5A0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34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A8D21-2EC4-9AE0-4735-A225A584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69E1AC-C21B-7D2B-C853-790D33B34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D2294B-13A2-65F9-A1AA-77FC10B0D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</a:t>
            </a:r>
            <a:r>
              <a:rPr lang="en-US" altLang="ko-KR" dirty="0"/>
              <a:t>Wafer Map Render </a:t>
            </a:r>
            <a:r>
              <a:rPr lang="ko-KR" altLang="en-US" dirty="0"/>
              <a:t>구현 입니다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Grid Size</a:t>
            </a:r>
            <a:r>
              <a:rPr lang="ko-KR" altLang="en-US" dirty="0"/>
              <a:t>에 따라 동적으로 </a:t>
            </a:r>
            <a:r>
              <a:rPr lang="en-US" altLang="ko-KR" dirty="0"/>
              <a:t>Wafer Map </a:t>
            </a:r>
            <a:r>
              <a:rPr lang="ko-KR" altLang="en-US" dirty="0"/>
              <a:t>을 렌더링 합니다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각 </a:t>
            </a:r>
            <a:r>
              <a:rPr lang="en-US" altLang="ko-KR" dirty="0"/>
              <a:t>Die </a:t>
            </a:r>
            <a:r>
              <a:rPr lang="ko-KR" altLang="en-US" dirty="0"/>
              <a:t>사이즈는 가로 세로 너비를 </a:t>
            </a:r>
            <a:r>
              <a:rPr lang="en-US" altLang="ko-KR" dirty="0"/>
              <a:t>x, y </a:t>
            </a:r>
            <a:r>
              <a:rPr lang="ko-KR" altLang="en-US" dirty="0"/>
              <a:t>의 범위로 </a:t>
            </a:r>
            <a:r>
              <a:rPr lang="ko-KR" altLang="en-US" dirty="0" err="1"/>
              <a:t>나누어줍니다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</a:t>
            </a:r>
            <a:r>
              <a:rPr lang="en-US" altLang="ko-KR" dirty="0" err="1"/>
              <a:t>ItemControl</a:t>
            </a:r>
            <a:r>
              <a:rPr lang="en-US" altLang="ko-KR" dirty="0"/>
              <a:t> </a:t>
            </a:r>
            <a:r>
              <a:rPr lang="ko-KR" altLang="en-US" dirty="0"/>
              <a:t>태그에서 렌더링 할 수 있도록 각 </a:t>
            </a:r>
            <a:r>
              <a:rPr lang="ko-KR" altLang="en-US" dirty="0" err="1"/>
              <a:t>다이의</a:t>
            </a:r>
            <a:r>
              <a:rPr lang="ko-KR" altLang="en-US" dirty="0"/>
              <a:t> 좌표를 다음과 같이 변환 해줍니다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Xi ‘ = xi – min(x) </a:t>
            </a:r>
          </a:p>
          <a:p>
            <a:r>
              <a:rPr lang="en-US" altLang="ko-KR" dirty="0"/>
              <a:t>Yi ‘ = max(y) – </a:t>
            </a:r>
            <a:r>
              <a:rPr lang="en-US" altLang="ko-KR" dirty="0" err="1"/>
              <a:t>yi</a:t>
            </a:r>
            <a:endParaRPr lang="en-US" altLang="ko-KR" dirty="0"/>
          </a:p>
          <a:p>
            <a:r>
              <a:rPr lang="ko-KR" altLang="en-US" dirty="0"/>
              <a:t>와 같이 변환 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그러면 모든 좌표는 </a:t>
            </a:r>
            <a:r>
              <a:rPr lang="en-US" altLang="ko-KR" dirty="0"/>
              <a:t>0 </a:t>
            </a:r>
            <a:r>
              <a:rPr lang="ko-KR" altLang="en-US" dirty="0"/>
              <a:t>이상이 되며 시각적으로는 좌측 상단에서부터 </a:t>
            </a:r>
            <a:r>
              <a:rPr lang="en-US" altLang="ko-KR" dirty="0"/>
              <a:t>0,0 </a:t>
            </a:r>
            <a:r>
              <a:rPr lang="ko-KR" altLang="en-US" dirty="0"/>
              <a:t>이고 우측</a:t>
            </a:r>
            <a:r>
              <a:rPr lang="en-US" altLang="ko-KR" dirty="0"/>
              <a:t>, </a:t>
            </a:r>
            <a:r>
              <a:rPr lang="ko-KR" altLang="en-US" dirty="0"/>
              <a:t>하단으로 갈 수록 값이 증가합니다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31B9E-C2A6-3081-99FE-4A79EFA9A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14394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ED97E-0C2B-3F66-A0DE-8631C8D4E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FC5EF1-F0F9-99FD-4276-58726131A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3D4A6-E27F-CD0E-8F66-574F2E62E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3AA4F6-B2BF-3B82-BF8F-724844384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490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F4E7-25E3-7F80-A726-CDD6FC33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854178-7E60-5DDE-ECF5-A1F9382C0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EB2F6-BEDF-E04D-6B16-728F3F4A6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지난</a:t>
            </a:r>
            <a:r>
              <a:rPr lang="en-US" altLang="ko-KR" dirty="0"/>
              <a:t> </a:t>
            </a:r>
            <a:r>
              <a:rPr lang="ko-KR" altLang="en-US" dirty="0"/>
              <a:t>주에는 </a:t>
            </a:r>
            <a:r>
              <a:rPr lang="en-US" altLang="ko-KR" dirty="0"/>
              <a:t>Refresh </a:t>
            </a:r>
            <a:r>
              <a:rPr lang="ko-KR" altLang="en-US" dirty="0"/>
              <a:t>버튼을 파일과 폴더 로드 목록을 지우는 기능을 했는데</a:t>
            </a:r>
            <a:endParaRPr lang="en-US" altLang="ko-KR" dirty="0"/>
          </a:p>
          <a:p>
            <a:r>
              <a:rPr lang="ko-KR" altLang="en-US" dirty="0"/>
              <a:t>생각해보니 경로들의 구조를 프로그램 내에서 재구성해 보여주는 기능임으로</a:t>
            </a:r>
            <a:endParaRPr lang="en-US" altLang="ko-KR" dirty="0"/>
          </a:p>
          <a:p>
            <a:r>
              <a:rPr lang="en-US" altLang="ko-KR" dirty="0"/>
              <a:t>System</a:t>
            </a:r>
            <a:r>
              <a:rPr lang="ko-KR" altLang="en-US" dirty="0"/>
              <a:t> 에서 폴더 및 파일 경로에 변경이 있을 시 </a:t>
            </a:r>
            <a:endParaRPr lang="en-US" altLang="ko-KR" dirty="0"/>
          </a:p>
          <a:p>
            <a:r>
              <a:rPr lang="ko-KR" altLang="en-US" dirty="0" err="1"/>
              <a:t>재로드</a:t>
            </a:r>
            <a:r>
              <a:rPr lang="ko-KR" altLang="en-US" dirty="0"/>
              <a:t> 해주는 하는 기능이 더 나을 것 같아 수정하였습니다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C3DA4-8B05-1987-C950-C037D4A97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1152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326C-7CA1-C634-A525-EBC64117A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A21C3A-9159-10C4-5E68-A0D8BA994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BDE8EE-0023-12D0-9916-53A98FA31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B3D76E-F86D-9BF9-E9A6-CCB5E7FB9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442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BBC16-34E2-3C44-69EB-6AE013CA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D40B-BE32-C0D7-E838-708795779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F4C64D-60F5-E622-86DD-81D25B91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영상처리 프로그램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1E176-26EE-4A4D-692D-48352073D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181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BFA9B-C486-60BE-72B1-BD11707F7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C95765-F1CF-D983-8A6F-8F692ADDB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79AC48-4DE9-D73D-E1CB-43C2F4E59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영상처리 프로그램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7436B7-9031-C5A6-1474-3F028CA00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2420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4429-FA4C-32E8-6557-17463A9E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E32D67-2256-38B4-0E81-9A27A4703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8F2CB8-FD73-7087-D2AE-DE17DC5AA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E774A-B168-E285-1053-F31F8726F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60432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A4F5B-8086-976D-C299-E3D34FB3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87A108-C21F-5F4B-553A-35D0D7E49E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2E7C8-36FB-8599-3FC6-AC4ECF57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BE2C6-BE44-D2FA-3D61-C49E56590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2136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F3867-BDCA-3524-6702-91C6BBD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E79EA7-994B-CC12-6D18-2AF03FDFDD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F246A9-3DED-8971-3999-4CCEA2B8C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507EF3-4255-9133-4820-227379CB24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6584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59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12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밤하늘이(가) 표시된 사진&#10;&#10;자동 생성된 설명">
            <a:extLst>
              <a:ext uri="{FF2B5EF4-FFF2-40B4-BE49-F238E27FC236}">
                <a16:creationId xmlns:a16="http://schemas.microsoft.com/office/drawing/2014/main" id="{59AA5A34-AC86-4225-8B16-193E9DC943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62" y="-12603"/>
            <a:ext cx="12294523" cy="6870603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7C5D6C6B-F42E-4731-96BF-8DD16CCB27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391" y="1412587"/>
            <a:ext cx="3648075" cy="85725"/>
          </a:xfrm>
          <a:prstGeom prst="rect">
            <a:avLst/>
          </a:prstGeom>
        </p:spPr>
      </p:pic>
      <p:sp>
        <p:nvSpPr>
          <p:cNvPr id="4" name="제목 3"/>
          <p:cNvSpPr>
            <a:spLocks noGrp="1"/>
          </p:cNvSpPr>
          <p:nvPr>
            <p:ph type="title" hasCustomPrompt="1"/>
          </p:nvPr>
        </p:nvSpPr>
        <p:spPr>
          <a:xfrm>
            <a:off x="791654" y="1628444"/>
            <a:ext cx="10515600" cy="914400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제목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2" hasCustomPrompt="1"/>
          </p:nvPr>
        </p:nvSpPr>
        <p:spPr>
          <a:xfrm>
            <a:off x="856734" y="2672976"/>
            <a:ext cx="10371439" cy="304070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3533062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경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DAAE79-7C61-41D5-84EC-5B9CB9A241A7}"/>
              </a:ext>
            </a:extLst>
          </p:cNvPr>
          <p:cNvSpPr txBox="1"/>
          <p:nvPr userDrawn="1"/>
        </p:nvSpPr>
        <p:spPr>
          <a:xfrm>
            <a:off x="625138" y="3374993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126CD-D619-47E5-AE10-92AD2CDAD12C}"/>
              </a:ext>
            </a:extLst>
          </p:cNvPr>
          <p:cNvSpPr txBox="1"/>
          <p:nvPr userDrawn="1"/>
        </p:nvSpPr>
        <p:spPr>
          <a:xfrm>
            <a:off x="3829732" y="3374095"/>
            <a:ext cx="7737130" cy="638115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r>
              <a:rPr lang="en-US" altLang="ko-KR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without our prior written consent.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0102B2-22DD-4BD6-8F1B-DC70002BE89F}"/>
              </a:ext>
            </a:extLst>
          </p:cNvPr>
          <p:cNvSpPr txBox="1"/>
          <p:nvPr userDrawn="1"/>
        </p:nvSpPr>
        <p:spPr>
          <a:xfrm>
            <a:off x="3829732" y="4324391"/>
            <a:ext cx="7661629" cy="1870056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CC16327-9328-4EE9-A528-9A7BAE18D8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1684" y="2851596"/>
            <a:ext cx="449553" cy="39666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FC95AFED-FC1F-464D-994B-526BEBDBF2B4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/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3C91F94E-CB27-4C2E-841F-C5FF074EBBB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1684" y="2851596"/>
            <a:ext cx="450000" cy="3970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6DA4A-B41C-4A94-AFC1-957C120EF67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9711" y="268783"/>
            <a:ext cx="1972034" cy="31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87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2391030E-8571-49CB-B278-AEEC8022140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89D01A-D26E-4D5F-B09E-DC3AE77CC5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8025" y="-12603"/>
            <a:ext cx="8995236" cy="687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6F291569-376C-4476-BC84-DC65F6EB0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2733" y="2974422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2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1B049121-830D-4BA5-A063-05499473C8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1" y="272388"/>
            <a:ext cx="2017942" cy="298812"/>
          </a:xfrm>
          <a:prstGeom prst="rect">
            <a:avLst/>
          </a:prstGeom>
        </p:spPr>
      </p:pic>
      <p:pic>
        <p:nvPicPr>
          <p:cNvPr id="30" name="그래픽 29">
            <a:extLst>
              <a:ext uri="{FF2B5EF4-FFF2-40B4-BE49-F238E27FC236}">
                <a16:creationId xmlns:a16="http://schemas.microsoft.com/office/drawing/2014/main" id="{347DFBB8-539F-4F79-A6B7-321FF5E181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2504" b="37366"/>
          <a:stretch/>
        </p:blipFill>
        <p:spPr>
          <a:xfrm>
            <a:off x="-51262" y="3422698"/>
            <a:ext cx="4299141" cy="3454062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2ADF2F1F-6847-4A2E-91A5-0E298BE6C6DA}"/>
              </a:ext>
            </a:extLst>
          </p:cNvPr>
          <p:cNvGrpSpPr>
            <a:grpSpLocks/>
          </p:cNvGrpSpPr>
          <p:nvPr userDrawn="1"/>
        </p:nvGrpSpPr>
        <p:grpSpPr>
          <a:xfrm>
            <a:off x="3963682" y="658265"/>
            <a:ext cx="2346540" cy="764922"/>
            <a:chOff x="4487875" y="1679865"/>
            <a:chExt cx="2346540" cy="764922"/>
          </a:xfrm>
        </p:grpSpPr>
        <p:sp>
          <p:nvSpPr>
            <p:cNvPr id="33" name="TextBox 1">
              <a:extLst>
                <a:ext uri="{FF2B5EF4-FFF2-40B4-BE49-F238E27FC236}">
                  <a16:creationId xmlns:a16="http://schemas.microsoft.com/office/drawing/2014/main" id="{C8D77D73-B810-4223-8C3F-5A84CE1845FE}"/>
                </a:ext>
              </a:extLst>
            </p:cNvPr>
            <p:cNvSpPr txBox="1">
              <a:spLocks/>
            </p:cNvSpPr>
            <p:nvPr userDrawn="1"/>
          </p:nvSpPr>
          <p:spPr bwMode="auto">
            <a:xfrm>
              <a:off x="4487875" y="1679865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9F759A6-8911-4AEB-8F30-DBD3E466D617}"/>
                </a:ext>
              </a:extLst>
            </p:cNvPr>
            <p:cNvSpPr>
              <a:spLocks/>
            </p:cNvSpPr>
            <p:nvPr userDrawn="1"/>
          </p:nvSpPr>
          <p:spPr>
            <a:xfrm>
              <a:off x="4622115" y="2364810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텍스트 개체 틀 22">
            <a:extLst>
              <a:ext uri="{FF2B5EF4-FFF2-40B4-BE49-F238E27FC236}">
                <a16:creationId xmlns:a16="http://schemas.microsoft.com/office/drawing/2014/main" id="{D1744234-9166-4288-8426-DB22F494BE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42871" y="2974422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01</a:t>
            </a:r>
          </a:p>
          <a:p>
            <a:pPr lvl="0"/>
            <a:r>
              <a:rPr lang="en-US" altLang="ko-KR" dirty="0"/>
              <a:t>02</a:t>
            </a:r>
          </a:p>
          <a:p>
            <a:pPr lvl="0"/>
            <a:r>
              <a:rPr lang="en-US" altLang="ko-KR" dirty="0"/>
              <a:t>03</a:t>
            </a:r>
          </a:p>
          <a:p>
            <a:pPr lvl="0"/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8389202" y="3124200"/>
            <a:ext cx="50400" cy="3733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308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변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C176295-0793-448E-A16D-CDF85DF998E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744"/>
          <a:stretch/>
        </p:blipFill>
        <p:spPr>
          <a:xfrm>
            <a:off x="-1" y="-12603"/>
            <a:ext cx="12192001" cy="1460403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E6340A84-6DC1-45CE-85B4-9AB89E96A6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2504" b="37366"/>
          <a:stretch/>
        </p:blipFill>
        <p:spPr>
          <a:xfrm>
            <a:off x="-1" y="82574"/>
            <a:ext cx="4043494" cy="32486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37C6760-9EE5-45B7-A259-D2E9A2847D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1" y="196188"/>
            <a:ext cx="2017942" cy="298812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8E079ACA-6456-45FF-A006-FFD5DF1F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4690" y="2261387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5" name="텍스트 개체 틀 22">
            <a:extLst>
              <a:ext uri="{FF2B5EF4-FFF2-40B4-BE49-F238E27FC236}">
                <a16:creationId xmlns:a16="http://schemas.microsoft.com/office/drawing/2014/main" id="{AC6B3461-ED30-48A1-8BBC-D48608BDDE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6100" y="2261387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/>
              <a:t>01</a:t>
            </a:r>
          </a:p>
          <a:p>
            <a:pPr lvl="0"/>
            <a:r>
              <a:rPr lang="en-US" altLang="ko-KR"/>
              <a:t>02</a:t>
            </a:r>
          </a:p>
          <a:p>
            <a:pPr lvl="0"/>
            <a:r>
              <a:rPr lang="en-US" altLang="ko-KR"/>
              <a:t>03</a:t>
            </a:r>
          </a:p>
          <a:p>
            <a:pPr lvl="0"/>
            <a:r>
              <a:rPr lang="en-US" altLang="ko-KR"/>
              <a:t>04</a:t>
            </a:r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7659064" y="2379600"/>
            <a:ext cx="46800" cy="4478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6B899D1-6228-44E2-AB32-E11326ADEEA3}"/>
              </a:ext>
            </a:extLst>
          </p:cNvPr>
          <p:cNvGrpSpPr/>
          <p:nvPr userDrawn="1"/>
        </p:nvGrpSpPr>
        <p:grpSpPr>
          <a:xfrm>
            <a:off x="982794" y="2134503"/>
            <a:ext cx="2346540" cy="764922"/>
            <a:chOff x="4043494" y="603094"/>
            <a:chExt cx="2346540" cy="764922"/>
          </a:xfrm>
        </p:grpSpPr>
        <p:sp>
          <p:nvSpPr>
            <p:cNvPr id="19" name="TextBox 1">
              <a:extLst>
                <a:ext uri="{FF2B5EF4-FFF2-40B4-BE49-F238E27FC236}">
                  <a16:creationId xmlns:a16="http://schemas.microsoft.com/office/drawing/2014/main" id="{EECB34FB-268F-4870-A1F6-F216C225DB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3494" y="603094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2C8A38F9-8209-45E3-8C04-102316FCFA1C}"/>
                </a:ext>
              </a:extLst>
            </p:cNvPr>
            <p:cNvSpPr/>
            <p:nvPr/>
          </p:nvSpPr>
          <p:spPr>
            <a:xfrm>
              <a:off x="4177734" y="1288039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496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A779B7-3B5D-4970-810D-100A6F9A3B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965" y="0"/>
            <a:ext cx="12215928" cy="6870601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6259484" y="3902772"/>
            <a:ext cx="5124872" cy="1073015"/>
          </a:xfrm>
        </p:spPr>
        <p:txBody>
          <a:bodyPr>
            <a:noAutofit/>
          </a:bodyPr>
          <a:lstStyle>
            <a:lvl1pPr marL="0" indent="0" algn="r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/>
              <a:t>0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1186249" y="5247619"/>
            <a:ext cx="10173167" cy="914400"/>
          </a:xfrm>
        </p:spPr>
        <p:txBody>
          <a:bodyPr anchor="ctr"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슬라이드 서브 타이틀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338B5FA-530B-4FFD-A903-FA36DE34983F}"/>
              </a:ext>
            </a:extLst>
          </p:cNvPr>
          <p:cNvCxnSpPr>
            <a:cxnSpLocks/>
          </p:cNvCxnSpPr>
          <p:nvPr userDrawn="1"/>
        </p:nvCxnSpPr>
        <p:spPr>
          <a:xfrm>
            <a:off x="10191404" y="5158673"/>
            <a:ext cx="1005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1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08F1-621E-4D3A-AC39-03AD2E90532A}"/>
              </a:ext>
            </a:extLst>
          </p:cNvPr>
          <p:cNvSpPr txBox="1">
            <a:spLocks/>
          </p:cNvSpPr>
          <p:nvPr userDrawn="1"/>
        </p:nvSpPr>
        <p:spPr>
          <a:xfrm>
            <a:off x="11614846" y="6391210"/>
            <a:ext cx="770694" cy="402483"/>
          </a:xfrm>
          <a:prstGeom prst="rect">
            <a:avLst/>
          </a:prstGeom>
        </p:spPr>
        <p:txBody>
          <a:bodyPr vert="horz" lIns="91440" tIns="45720" rIns="91440" bIns="7200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900">
                <a:solidFill>
                  <a:schemeClr val="bg1">
                    <a:lumMod val="50000"/>
                  </a:schemeClr>
                </a:solidFill>
              </a:rPr>
              <a:t>│ </a:t>
            </a:r>
            <a:r>
              <a:rPr lang="en-US" altLang="ko-KR" sz="900">
                <a:solidFill>
                  <a:srgbClr val="C00000"/>
                </a:solidFill>
              </a:rPr>
              <a:t> </a:t>
            </a:r>
            <a:fld id="{2DCB18FE-46AA-4BE0-88C7-F5AF093AC2C4}" type="slidenum">
              <a:rPr lang="ko-KR" altLang="en-US" sz="900" smtClean="0">
                <a:solidFill>
                  <a:srgbClr val="C00000"/>
                </a:solidFill>
              </a:rPr>
              <a:pPr algn="l"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74D566-5290-49D3-910B-25549DCA8EFF}"/>
              </a:ext>
            </a:extLst>
          </p:cNvPr>
          <p:cNvSpPr/>
          <p:nvPr userDrawn="1"/>
        </p:nvSpPr>
        <p:spPr>
          <a:xfrm>
            <a:off x="382897" y="795847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C82754-4F5C-45BA-B4D5-14EBD1CE93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843" y="6426830"/>
            <a:ext cx="1787003" cy="287872"/>
          </a:xfrm>
          <a:prstGeom prst="rect">
            <a:avLst/>
          </a:prstGeom>
        </p:spPr>
      </p:pic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08606B09-FF37-41C3-A486-9819CF6A9095}"/>
              </a:ext>
            </a:extLst>
          </p:cNvPr>
          <p:cNvSpPr/>
          <p:nvPr userDrawn="1"/>
        </p:nvSpPr>
        <p:spPr>
          <a:xfrm>
            <a:off x="10211564" y="0"/>
            <a:ext cx="1704109" cy="289845"/>
          </a:xfrm>
          <a:prstGeom prst="round2SameRect">
            <a:avLst>
              <a:gd name="adj1" fmla="val 0"/>
              <a:gd name="adj2" fmla="val 42810"/>
            </a:avLst>
          </a:prstGeom>
          <a:gradFill flip="none" rotWithShape="1">
            <a:gsLst>
              <a:gs pos="100000">
                <a:srgbClr val="C00000"/>
              </a:gs>
              <a:gs pos="17000">
                <a:srgbClr val="96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DB25EE3C-0B8B-4EF0-8B82-CFB86B533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083" y="228762"/>
            <a:ext cx="11607589" cy="55758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308082" y="1015111"/>
            <a:ext cx="11607589" cy="1235210"/>
          </a:xfrm>
        </p:spPr>
        <p:txBody>
          <a:bodyPr>
            <a:spAutoFit/>
          </a:bodyPr>
          <a:lstStyle>
            <a:lvl1pPr>
              <a:defRPr sz="160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1400">
                <a:solidFill>
                  <a:schemeClr val="bg2">
                    <a:lumMod val="25000"/>
                  </a:schemeClr>
                </a:solidFill>
              </a:defRPr>
            </a:lvl2pPr>
            <a:lvl3pPr>
              <a:defRPr sz="1200">
                <a:solidFill>
                  <a:schemeClr val="bg2">
                    <a:lumMod val="25000"/>
                  </a:schemeClr>
                </a:solidFill>
              </a:defRPr>
            </a:lvl3pPr>
            <a:lvl4pPr>
              <a:defRPr sz="1100">
                <a:solidFill>
                  <a:schemeClr val="bg2">
                    <a:lumMod val="25000"/>
                  </a:schemeClr>
                </a:solidFill>
              </a:defRPr>
            </a:lvl4pPr>
            <a:lvl5pPr>
              <a:defRPr sz="11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42746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26ABAB9-B5A4-4A9B-9734-AF13015059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202" y="-12603"/>
            <a:ext cx="12214403" cy="6870601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329212" y="4803948"/>
            <a:ext cx="4019627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000" b="1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000" b="1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78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A9DFDAD-DDA1-49A4-9653-D80F4E78B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289809B-E029-4D03-90E6-1A977BB1DDB6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>
                  <a:alpha val="80000"/>
                </a:srgbClr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</p:spTree>
    <p:extLst>
      <p:ext uri="{BB962C8B-B14F-4D97-AF65-F5344CB8AC3E}">
        <p14:creationId xmlns:p14="http://schemas.microsoft.com/office/powerpoint/2010/main" val="1345317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2709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121301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39514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4821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5215054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602140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E9BC08-1F92-4AD1-86A3-C41C2223A6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4F5F0E-1CF6-44DB-96A5-586F9479302E}"/>
              </a:ext>
            </a:extLst>
          </p:cNvPr>
          <p:cNvSpPr/>
          <p:nvPr userDrawn="1"/>
        </p:nvSpPr>
        <p:spPr>
          <a:xfrm>
            <a:off x="0" y="3383573"/>
            <a:ext cx="12192000" cy="90855"/>
          </a:xfrm>
          <a:prstGeom prst="rect">
            <a:avLst/>
          </a:prstGeom>
          <a:gradFill flip="none" rotWithShape="1">
            <a:gsLst>
              <a:gs pos="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FD4D829-36C2-4504-B7E5-007475BC235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92" y="1476601"/>
            <a:ext cx="3600000" cy="3600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4F942A7-FABC-4356-9BD0-9884C1FB514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1332" y="642856"/>
            <a:ext cx="3040778" cy="4779818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1024285" y="1602173"/>
            <a:ext cx="1917323" cy="1073015"/>
          </a:xfrm>
        </p:spPr>
        <p:txBody>
          <a:bodyPr>
            <a:noAutofit/>
          </a:bodyPr>
          <a:lstStyle>
            <a:lvl1pPr marL="0" indent="0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sz="8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Helvetica" panose="020B0604020202020204" pitchFamily="34" charset="0"/>
              </a:rPr>
              <a:t>01.</a:t>
            </a:r>
            <a:endParaRPr lang="ko-KR" altLang="en-US" sz="8000" dirty="0">
              <a:solidFill>
                <a:schemeClr val="bg1"/>
              </a:solidFill>
              <a:latin typeface="+mn-ea"/>
              <a:cs typeface="Helvetica" panose="020B0604020202020204" pitchFamily="34" charset="0"/>
            </a:endParaRP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5439157" y="2649310"/>
            <a:ext cx="6335900" cy="914400"/>
          </a:xfrm>
        </p:spPr>
        <p:txBody>
          <a:bodyPr anchor="ctr">
            <a:normAutofit/>
          </a:bodyPr>
          <a:lstStyle>
            <a:lvl1pPr marL="0" indent="0">
              <a:buNone/>
              <a:defRPr sz="3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슬라이드 서브 타이틀</a:t>
            </a:r>
          </a:p>
        </p:txBody>
      </p:sp>
    </p:spTree>
    <p:extLst>
      <p:ext uri="{BB962C8B-B14F-4D97-AF65-F5344CB8AC3E}">
        <p14:creationId xmlns:p14="http://schemas.microsoft.com/office/powerpoint/2010/main" val="29687261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83440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70068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텍스트 수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757043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 hasCustomPrompt="1"/>
          </p:nvPr>
        </p:nvSpPr>
        <p:spPr>
          <a:xfrm>
            <a:off x="828074" y="1794568"/>
            <a:ext cx="4468545" cy="4305831"/>
          </a:xfrm>
        </p:spPr>
        <p:txBody>
          <a:bodyPr/>
          <a:lstStyle>
            <a:lvl1pPr>
              <a:defRPr sz="20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18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16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14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텍스트 첫째 수준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59734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34511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68008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08530"/>
            <a:ext cx="4840941" cy="6858000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778100" y="2118937"/>
            <a:ext cx="4437882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600" b="1" dirty="0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600" b="1" dirty="0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100" y="1371943"/>
            <a:ext cx="2191443" cy="324503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9633554" y="6389879"/>
            <a:ext cx="2346712" cy="361116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Copyright of ATI 2021. All rights reserved</a:t>
            </a:r>
          </a:p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</a:rPr>
              <a:t>www.ati2000.co.kr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9" y="1089667"/>
            <a:ext cx="2698228" cy="16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73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08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51" r:id="rId3"/>
    <p:sldLayoutId id="2147483670" r:id="rId4"/>
    <p:sldLayoutId id="2147483653" r:id="rId5"/>
    <p:sldLayoutId id="2147483669" r:id="rId6"/>
    <p:sldLayoutId id="2147483655" r:id="rId7"/>
    <p:sldLayoutId id="2147483666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837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5.png"/><Relationship Id="rId5" Type="http://schemas.openxmlformats.org/officeDocument/2006/relationships/image" Target="../media/image23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2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2.png"/><Relationship Id="rId4" Type="http://schemas.microsoft.com/office/2007/relationships/hdphoto" Target="../media/hdphoto2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microsoft.com/office/2007/relationships/hdphoto" Target="../media/hdphoto4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24906" y="1579897"/>
            <a:ext cx="10194076" cy="914400"/>
          </a:xfrm>
        </p:spPr>
        <p:txBody>
          <a:bodyPr>
            <a:normAutofit/>
          </a:bodyPr>
          <a:lstStyle/>
          <a:p>
            <a:r>
              <a:rPr lang="en-US" altLang="ko-KR" dirty="0"/>
              <a:t>12</a:t>
            </a:r>
            <a:r>
              <a:rPr lang="ko-KR" altLang="en-US" dirty="0"/>
              <a:t>주차 과제 발표 </a:t>
            </a:r>
            <a:r>
              <a:rPr lang="en-US" altLang="ko-KR" dirty="0"/>
              <a:t>– </a:t>
            </a:r>
            <a:r>
              <a:rPr lang="en-US" altLang="ko-KR" dirty="0" err="1"/>
              <a:t>Klarf</a:t>
            </a:r>
            <a:r>
              <a:rPr lang="ko-KR" altLang="en-US" dirty="0"/>
              <a:t> 실습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>
          <a:xfrm>
            <a:off x="880512" y="2640648"/>
            <a:ext cx="2464572" cy="276172"/>
          </a:xfrm>
        </p:spPr>
        <p:txBody>
          <a:bodyPr>
            <a:normAutofit/>
          </a:bodyPr>
          <a:lstStyle/>
          <a:p>
            <a:r>
              <a:rPr lang="ko-KR" altLang="en-US" dirty="0"/>
              <a:t>선행</a:t>
            </a:r>
            <a:r>
              <a:rPr lang="en-US" altLang="ko-KR" dirty="0"/>
              <a:t>SW / </a:t>
            </a:r>
            <a:r>
              <a:rPr lang="ko-KR" altLang="en-US" dirty="0"/>
              <a:t>알고리즘</a:t>
            </a:r>
            <a:r>
              <a:rPr lang="en-US" altLang="ko-KR" dirty="0"/>
              <a:t> / </a:t>
            </a:r>
            <a:r>
              <a:rPr lang="ko-KR" altLang="en-US" dirty="0"/>
              <a:t>안광윤</a:t>
            </a:r>
          </a:p>
        </p:txBody>
      </p:sp>
    </p:spTree>
    <p:extLst>
      <p:ext uri="{BB962C8B-B14F-4D97-AF65-F5344CB8AC3E}">
        <p14:creationId xmlns:p14="http://schemas.microsoft.com/office/powerpoint/2010/main" val="415172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445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dirty="0"/>
              <a:t>01</a:t>
            </a:r>
          </a:p>
          <a:p>
            <a:r>
              <a:rPr lang="en-US" altLang="ko-KR" dirty="0"/>
              <a:t>02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7840560" y="2230203"/>
            <a:ext cx="4351439" cy="4644723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r>
              <a:rPr lang="ko-KR" altLang="en-US" dirty="0"/>
              <a:t>개선사항 </a:t>
            </a:r>
            <a:endParaRPr lang="en-US" altLang="ko-KR" dirty="0"/>
          </a:p>
          <a:p>
            <a:r>
              <a:rPr lang="ko-KR" altLang="en-US" dirty="0"/>
              <a:t>설계 변경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877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C88CC-75C6-B365-9710-D7BDFE0F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04BF86F-2CCD-88AB-D6C3-DE244E761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F6038C-0984-C9F8-3C18-30C9DD9C00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최종 구현 상황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000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CE618-43D4-68B7-2707-D3F04080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C883A87-F01B-9BC3-591E-CE2D5E9A0D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B370CFA-7A35-77CC-F4CD-66A3E84499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" y="1014485"/>
            <a:ext cx="11715750" cy="5192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431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F36-C218-34ED-A4A2-D7AAE44B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4FF9AB-826E-AB56-6942-419D0FF390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 </a:t>
            </a:r>
            <a:r>
              <a:rPr lang="en-US" altLang="ko-KR" dirty="0"/>
              <a:t>Layout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E062A1F0-3767-481A-D5AC-6B6BC309B909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C741B0DB-78EB-9E26-EA74-33AA1FCD9EC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3B070087-45A3-C4B7-DAC7-A0118F0F5047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B406476-9620-0F3A-1908-0092081A98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7" t="359" r="169"/>
          <a:stretch>
            <a:fillRect/>
          </a:stretch>
        </p:blipFill>
        <p:spPr>
          <a:xfrm>
            <a:off x="3564272" y="899412"/>
            <a:ext cx="8217695" cy="54526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85765E-C4D6-DA7B-0DE8-44C6E5EAB0C1}"/>
              </a:ext>
            </a:extLst>
          </p:cNvPr>
          <p:cNvSpPr/>
          <p:nvPr/>
        </p:nvSpPr>
        <p:spPr>
          <a:xfrm>
            <a:off x="278716" y="923337"/>
            <a:ext cx="3287945" cy="1810852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Histogram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C374EDA-C195-47EE-40A2-B52C5C2408CD}"/>
              </a:ext>
            </a:extLst>
          </p:cNvPr>
          <p:cNvSpPr/>
          <p:nvPr/>
        </p:nvSpPr>
        <p:spPr>
          <a:xfrm>
            <a:off x="3564271" y="905485"/>
            <a:ext cx="8243717" cy="5446532"/>
          </a:xfrm>
          <a:prstGeom prst="roundRect">
            <a:avLst>
              <a:gd name="adj" fmla="val 2510"/>
            </a:avLst>
          </a:prstGeom>
          <a:solidFill>
            <a:srgbClr val="FFFFFF">
              <a:alpha val="5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 err="1">
                <a:solidFill>
                  <a:srgbClr val="5555FD"/>
                </a:solidFill>
              </a:rPr>
              <a:t>MainView</a:t>
            </a:r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52B6F1C-3C03-E40D-DB01-83518AFC763F}"/>
              </a:ext>
            </a:extLst>
          </p:cNvPr>
          <p:cNvSpPr/>
          <p:nvPr/>
        </p:nvSpPr>
        <p:spPr>
          <a:xfrm>
            <a:off x="7686129" y="1228137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CE408F0-B0B3-6644-94AE-A131F166AF18}"/>
              </a:ext>
            </a:extLst>
          </p:cNvPr>
          <p:cNvSpPr/>
          <p:nvPr/>
        </p:nvSpPr>
        <p:spPr>
          <a:xfrm>
            <a:off x="3564270" y="1228137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D7EAE1-5126-C810-4953-2A74B436528F}"/>
              </a:ext>
            </a:extLst>
          </p:cNvPr>
          <p:cNvSpPr/>
          <p:nvPr/>
        </p:nvSpPr>
        <p:spPr>
          <a:xfrm>
            <a:off x="3564270" y="3791415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7C58D36-E329-C2E1-052A-55D00EDB59A4}"/>
              </a:ext>
            </a:extLst>
          </p:cNvPr>
          <p:cNvSpPr/>
          <p:nvPr/>
        </p:nvSpPr>
        <p:spPr>
          <a:xfrm>
            <a:off x="7699139" y="3794812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E77D37BA-72DA-A32E-B272-52B8B2973B69}"/>
              </a:ext>
            </a:extLst>
          </p:cNvPr>
          <p:cNvSpPr/>
          <p:nvPr/>
        </p:nvSpPr>
        <p:spPr>
          <a:xfrm>
            <a:off x="276325" y="2726153"/>
            <a:ext cx="3287945" cy="1810852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Analysis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E1C6396-FBB5-BF9D-1827-12CD7D105D0B}"/>
              </a:ext>
            </a:extLst>
          </p:cNvPr>
          <p:cNvSpPr/>
          <p:nvPr/>
        </p:nvSpPr>
        <p:spPr>
          <a:xfrm>
            <a:off x="282830" y="4537005"/>
            <a:ext cx="3287945" cy="1810852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Analysis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70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F3FF-1D9C-4DB7-ADD3-3B0295A30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08F14CA-5780-5445-93BB-43F483A373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Die </a:t>
            </a:r>
            <a:r>
              <a:rPr lang="ko-KR" altLang="en-US" dirty="0"/>
              <a:t>간</a:t>
            </a:r>
            <a:r>
              <a:rPr lang="en-US" altLang="ko-KR" dirty="0"/>
              <a:t> </a:t>
            </a:r>
            <a:r>
              <a:rPr lang="ko-KR" altLang="en-US" dirty="0"/>
              <a:t>이동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2F1043-255B-71B4-6539-0F909CAB711B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199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 </a:t>
            </a:r>
            <a:r>
              <a:rPr lang="ko-KR" altLang="en-US" dirty="0"/>
              <a:t>간 이동</a:t>
            </a:r>
            <a:r>
              <a:rPr lang="en-US" altLang="ko-KR" dirty="0"/>
              <a:t>/ Die</a:t>
            </a:r>
            <a:r>
              <a:rPr lang="ko-KR" altLang="en-US" dirty="0"/>
              <a:t> 내 </a:t>
            </a:r>
            <a:r>
              <a:rPr lang="en-US" altLang="ko-KR" dirty="0"/>
              <a:t>Defect</a:t>
            </a:r>
            <a:r>
              <a:rPr lang="ko-KR" altLang="en-US" dirty="0"/>
              <a:t> 이동</a:t>
            </a:r>
            <a:endParaRPr lang="en-US" altLang="ko-KR" dirty="0"/>
          </a:p>
          <a:p>
            <a:r>
              <a:rPr lang="en-US" altLang="ko-KR" dirty="0"/>
              <a:t>          Defect ID </a:t>
            </a:r>
            <a:r>
              <a:rPr lang="ko-KR" altLang="en-US" dirty="0"/>
              <a:t>기반 </a:t>
            </a:r>
            <a:r>
              <a:rPr lang="en-US" altLang="ko-KR" dirty="0"/>
              <a:t>Shift        Normal Die </a:t>
            </a:r>
            <a:r>
              <a:rPr lang="ko-KR" altLang="en-US" dirty="0"/>
              <a:t>고려</a:t>
            </a:r>
            <a:r>
              <a:rPr lang="en-US" altLang="ko-KR" dirty="0"/>
              <a:t> X 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Die </a:t>
            </a:r>
            <a:r>
              <a:rPr lang="ko-KR" altLang="en-US" dirty="0"/>
              <a:t>간 이동</a:t>
            </a:r>
            <a:r>
              <a:rPr lang="en-US" altLang="ko-KR" dirty="0"/>
              <a:t> - LINQ </a:t>
            </a:r>
            <a:r>
              <a:rPr lang="ko-KR" altLang="en-US" dirty="0"/>
              <a:t>를 활용한 </a:t>
            </a:r>
            <a:r>
              <a:rPr lang="en-US" altLang="ko-KR" dirty="0"/>
              <a:t>Die Shift  </a:t>
            </a:r>
            <a:r>
              <a:rPr lang="ko-KR" altLang="en-US" dirty="0"/>
              <a:t>구현</a:t>
            </a:r>
            <a:endParaRPr lang="en-US" altLang="ko-KR" dirty="0"/>
          </a:p>
          <a:p>
            <a:r>
              <a:rPr lang="en-US" altLang="ko-KR" dirty="0"/>
              <a:t>          Defect ID        (x, y) Index         Die ID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방향키 컨트롤</a:t>
            </a:r>
            <a:endParaRPr lang="en-US" altLang="ko-KR" dirty="0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F41F64A1-703E-8D18-4D76-A9677C735A61}"/>
              </a:ext>
            </a:extLst>
          </p:cNvPr>
          <p:cNvSpPr/>
          <p:nvPr/>
        </p:nvSpPr>
        <p:spPr>
          <a:xfrm>
            <a:off x="3160144" y="1487546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2D4EC119-1D02-D80B-2A78-0758850EC506}"/>
              </a:ext>
            </a:extLst>
          </p:cNvPr>
          <p:cNvGrpSpPr/>
          <p:nvPr/>
        </p:nvGrpSpPr>
        <p:grpSpPr>
          <a:xfrm>
            <a:off x="6728653" y="842884"/>
            <a:ext cx="5187020" cy="5713985"/>
            <a:chOff x="6594947" y="979028"/>
            <a:chExt cx="5187020" cy="571398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EB22E9B-680B-A8FD-3EA2-DEA854D16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31000"/>
                      </a14:imgEffect>
                    </a14:imgLayer>
                  </a14:imgProps>
                </a:ext>
              </a:extLst>
            </a:blip>
            <a:srcRect l="50112" t="5727" r="169"/>
            <a:stretch>
              <a:fillRect/>
            </a:stretch>
          </p:blipFill>
          <p:spPr>
            <a:xfrm>
              <a:off x="7237142" y="979028"/>
              <a:ext cx="4544825" cy="571398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5D776A3-2C91-B6C5-97C8-9C81779AF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0112" t="56052" r="169" b="27022"/>
            <a:stretch>
              <a:fillRect/>
            </a:stretch>
          </p:blipFill>
          <p:spPr>
            <a:xfrm>
              <a:off x="6594947" y="4047894"/>
              <a:ext cx="5187020" cy="117087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4EC33288-4B99-18E2-56BE-5245DE21E04C}"/>
                </a:ext>
              </a:extLst>
            </p:cNvPr>
            <p:cNvSpPr/>
            <p:nvPr/>
          </p:nvSpPr>
          <p:spPr>
            <a:xfrm>
              <a:off x="6594947" y="4047895"/>
              <a:ext cx="5187020" cy="117087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C0C3599-D965-FB54-4BC0-A124B3400F6F}"/>
              </a:ext>
            </a:extLst>
          </p:cNvPr>
          <p:cNvSpPr/>
          <p:nvPr/>
        </p:nvSpPr>
        <p:spPr>
          <a:xfrm>
            <a:off x="2178594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5237B96B-B467-CF40-293A-CCA1B5BF1796}"/>
              </a:ext>
            </a:extLst>
          </p:cNvPr>
          <p:cNvSpPr/>
          <p:nvPr/>
        </p:nvSpPr>
        <p:spPr>
          <a:xfrm>
            <a:off x="3870859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8B6E010-720F-2665-1916-6E5D7F5EC17A}"/>
              </a:ext>
            </a:extLst>
          </p:cNvPr>
          <p:cNvGrpSpPr/>
          <p:nvPr/>
        </p:nvGrpSpPr>
        <p:grpSpPr>
          <a:xfrm>
            <a:off x="287710" y="3927971"/>
            <a:ext cx="6325484" cy="1743318"/>
            <a:chOff x="253879" y="4472782"/>
            <a:chExt cx="6325484" cy="1743318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66E83E54-CB4B-3D2A-0A58-76A91562B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3880" y="4472782"/>
              <a:ext cx="6325483" cy="1743318"/>
            </a:xfrm>
            <a:prstGeom prst="rect">
              <a:avLst/>
            </a:prstGeom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E982DDB-6A70-CFE2-1132-61AEAE5CE391}"/>
                </a:ext>
              </a:extLst>
            </p:cNvPr>
            <p:cNvSpPr/>
            <p:nvPr/>
          </p:nvSpPr>
          <p:spPr>
            <a:xfrm>
              <a:off x="253879" y="4472782"/>
              <a:ext cx="6325483" cy="174331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12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E7CFC-7C4C-6643-E63C-C880771F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D96360E-A851-519B-E6E7-93B8A39F9B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Wafer Map Render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9F0D03-BF23-8AE8-69B4-8ECE234B7DF1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4222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Grid Size Interact </a:t>
            </a:r>
            <a:r>
              <a:rPr lang="ko-KR" altLang="en-US" dirty="0"/>
              <a:t>로 동적 렌더링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반응형 </a:t>
            </a:r>
            <a:r>
              <a:rPr lang="en-US" altLang="ko-KR" dirty="0"/>
              <a:t>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Defective Die </a:t>
            </a:r>
            <a:r>
              <a:rPr lang="ko-KR" altLang="en-US" dirty="0"/>
              <a:t>선택 기능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상대 좌표 변환</a:t>
            </a:r>
            <a:r>
              <a:rPr lang="en-US" altLang="ko-KR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73206A-98C5-C6EB-C97A-C7DFB971A6A5}"/>
              </a:ext>
            </a:extLst>
          </p:cNvPr>
          <p:cNvGrpSpPr/>
          <p:nvPr/>
        </p:nvGrpSpPr>
        <p:grpSpPr>
          <a:xfrm>
            <a:off x="4170104" y="2242934"/>
            <a:ext cx="7969294" cy="2768195"/>
            <a:chOff x="2692658" y="2470026"/>
            <a:chExt cx="7969294" cy="2768195"/>
          </a:xfrm>
        </p:grpSpPr>
        <p:sp>
          <p:nvSpPr>
            <p:cNvPr id="15" name="화살표: 왼쪽/오른쪽 14">
              <a:extLst>
                <a:ext uri="{FF2B5EF4-FFF2-40B4-BE49-F238E27FC236}">
                  <a16:creationId xmlns:a16="http://schemas.microsoft.com/office/drawing/2014/main" id="{840C3B2C-5C2C-4A0E-2FBE-B5C7CEFA3D1D}"/>
                </a:ext>
              </a:extLst>
            </p:cNvPr>
            <p:cNvSpPr/>
            <p:nvPr/>
          </p:nvSpPr>
          <p:spPr>
            <a:xfrm>
              <a:off x="5462413" y="3671867"/>
              <a:ext cx="570873" cy="328304"/>
            </a:xfrm>
            <a:prstGeom prst="leftRightArrow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367CAE1D-8A28-08C4-5997-2C748DE29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658" y="2470026"/>
              <a:ext cx="2557571" cy="2768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D70FC97B-5EB6-B839-E538-D45AEA24C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381" r="33469" b="30599"/>
            <a:stretch>
              <a:fillRect/>
            </a:stretch>
          </p:blipFill>
          <p:spPr>
            <a:xfrm>
              <a:off x="6280238" y="2470026"/>
              <a:ext cx="4381714" cy="276819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A3A251F0-6D6B-FAD9-1EEC-92CB2FC2B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297" y="5146972"/>
            <a:ext cx="6077798" cy="1409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7B7783B-52BC-15B2-F3B8-3C39E4ED627B}"/>
              </a:ext>
            </a:extLst>
          </p:cNvPr>
          <p:cNvSpPr/>
          <p:nvPr/>
        </p:nvSpPr>
        <p:spPr>
          <a:xfrm>
            <a:off x="4170103" y="2206723"/>
            <a:ext cx="2557572" cy="2804403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E0712EC-F864-27F6-E593-51452DBC874A}"/>
              </a:ext>
            </a:extLst>
          </p:cNvPr>
          <p:cNvSpPr/>
          <p:nvPr/>
        </p:nvSpPr>
        <p:spPr>
          <a:xfrm>
            <a:off x="7757685" y="2242935"/>
            <a:ext cx="4381714" cy="2768191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29A441F7-1E74-B72E-B6ED-5D4EE1FDD762}"/>
              </a:ext>
            </a:extLst>
          </p:cNvPr>
          <p:cNvSpPr/>
          <p:nvPr/>
        </p:nvSpPr>
        <p:spPr>
          <a:xfrm>
            <a:off x="6039297" y="5146972"/>
            <a:ext cx="6077798" cy="140989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9B8848A7-E78C-D97F-D60B-8A6BA92841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26" t="5817" r="1422" b="66719"/>
          <a:stretch>
            <a:fillRect/>
          </a:stretch>
        </p:blipFill>
        <p:spPr>
          <a:xfrm>
            <a:off x="3927697" y="1335767"/>
            <a:ext cx="4304372" cy="70381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D4BCC5C-2AC6-2BB4-7CFB-980C06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7495" t="38779" r="14336" b="36433"/>
          <a:stretch>
            <a:fillRect/>
          </a:stretch>
        </p:blipFill>
        <p:spPr>
          <a:xfrm>
            <a:off x="8609743" y="1318254"/>
            <a:ext cx="3474719" cy="720264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99CCBF65-A728-B686-323D-E19CDB853C5A}"/>
              </a:ext>
            </a:extLst>
          </p:cNvPr>
          <p:cNvGrpSpPr/>
          <p:nvPr/>
        </p:nvGrpSpPr>
        <p:grpSpPr>
          <a:xfrm>
            <a:off x="549069" y="3475246"/>
            <a:ext cx="2406004" cy="1384518"/>
            <a:chOff x="189509" y="3210426"/>
            <a:chExt cx="2792055" cy="1734139"/>
          </a:xfrm>
        </p:grpSpPr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4BF11C70-0FD5-6406-E814-AA76370BE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36153"/>
            <a:stretch>
              <a:fillRect/>
            </a:stretch>
          </p:blipFill>
          <p:spPr>
            <a:xfrm>
              <a:off x="189509" y="3210426"/>
              <a:ext cx="2792055" cy="927542"/>
            </a:xfrm>
            <a:prstGeom prst="rect">
              <a:avLst/>
            </a:prstGeom>
          </p:spPr>
        </p:pic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A9ED1D39-D480-4490-BF5E-6BA16F1B8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624" t="62196"/>
            <a:stretch>
              <a:fillRect/>
            </a:stretch>
          </p:blipFill>
          <p:spPr>
            <a:xfrm>
              <a:off x="234114" y="4449412"/>
              <a:ext cx="2174347" cy="495153"/>
            </a:xfrm>
            <a:prstGeom prst="rect">
              <a:avLst/>
            </a:prstGeom>
          </p:spPr>
        </p:pic>
      </p:grpSp>
      <p:sp>
        <p:nvSpPr>
          <p:cNvPr id="36" name="텍스트 개체 틀 2">
            <a:extLst>
              <a:ext uri="{FF2B5EF4-FFF2-40B4-BE49-F238E27FC236}">
                <a16:creationId xmlns:a16="http://schemas.microsoft.com/office/drawing/2014/main" id="{6A770434-3246-3EE1-A2A1-D222B0E4166D}"/>
              </a:ext>
            </a:extLst>
          </p:cNvPr>
          <p:cNvSpPr txBox="1">
            <a:spLocks/>
          </p:cNvSpPr>
          <p:nvPr/>
        </p:nvSpPr>
        <p:spPr>
          <a:xfrm>
            <a:off x="3564724" y="1912401"/>
            <a:ext cx="1888222" cy="4557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(x1, y1)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(0, 0) 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D765017-B93E-08C9-CA10-00214BAD780B}"/>
              </a:ext>
            </a:extLst>
          </p:cNvPr>
          <p:cNvCxnSpPr>
            <a:cxnSpLocks/>
          </p:cNvCxnSpPr>
          <p:nvPr/>
        </p:nvCxnSpPr>
        <p:spPr>
          <a:xfrm>
            <a:off x="4220685" y="2242934"/>
            <a:ext cx="2339198" cy="2575486"/>
          </a:xfrm>
          <a:prstGeom prst="straightConnector1">
            <a:avLst/>
          </a:prstGeom>
          <a:ln w="31750">
            <a:solidFill>
              <a:srgbClr val="5555FD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916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92041-FF66-AD68-CF15-87DFC86A4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2366D4E-20D8-D2A2-F756-445E494D60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VM </a:t>
            </a:r>
            <a:r>
              <a:rPr lang="ko-KR" altLang="en-US" dirty="0"/>
              <a:t>간 자료 동기화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24B423-BB8C-4B6B-9CCF-0FE26E448DB6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Map Click – Navigator – List Click </a:t>
            </a:r>
            <a:r>
              <a:rPr lang="ko-KR" altLang="en-US" dirty="0"/>
              <a:t>동기화 </a:t>
            </a:r>
            <a:endParaRPr lang="en-US" altLang="ko-KR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304B366-7203-8A4B-65B4-5B66B5326DA0}"/>
              </a:ext>
            </a:extLst>
          </p:cNvPr>
          <p:cNvGrpSpPr/>
          <p:nvPr/>
        </p:nvGrpSpPr>
        <p:grpSpPr>
          <a:xfrm>
            <a:off x="1945260" y="1407598"/>
            <a:ext cx="8301479" cy="5111171"/>
            <a:chOff x="3021713" y="1445698"/>
            <a:chExt cx="8652759" cy="541230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DB0A31B-6E97-981E-978E-E976A99FC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44000"/>
                      </a14:imgEffect>
                      <a14:imgEffect>
                        <a14:brightnessContrast bright="-25000"/>
                      </a14:imgEffect>
                    </a14:imgLayer>
                  </a14:imgProps>
                </a:ext>
              </a:extLst>
            </a:blip>
            <a:srcRect l="-1" t="378" r="-27" b="-185"/>
            <a:stretch>
              <a:fillRect/>
            </a:stretch>
          </p:blipFill>
          <p:spPr>
            <a:xfrm>
              <a:off x="3021713" y="1445698"/>
              <a:ext cx="8652759" cy="54123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BDFF680-0047-5707-7868-DEC88BDE2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8909" t="56379" r="227" b="27396"/>
            <a:stretch>
              <a:fillRect/>
            </a:stretch>
          </p:blipFill>
          <p:spPr>
            <a:xfrm>
              <a:off x="8926144" y="4487823"/>
              <a:ext cx="2743941" cy="90433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A3B3335-F26F-FB3C-4D90-23023036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78" r="47954" b="47325"/>
            <a:stretch>
              <a:fillRect/>
            </a:stretch>
          </p:blipFill>
          <p:spPr>
            <a:xfrm>
              <a:off x="3021713" y="1445698"/>
              <a:ext cx="4460755" cy="280988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F2AA146-CA82-98D4-CE2F-17ED3676B6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2852" t="73813" r="1907" b="2683"/>
            <a:stretch>
              <a:fillRect/>
            </a:stretch>
          </p:blipFill>
          <p:spPr>
            <a:xfrm>
              <a:off x="7599254" y="5392157"/>
              <a:ext cx="4070831" cy="13258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4EA7B827-330E-96ED-8366-8ED9257F9825}"/>
                </a:ext>
              </a:extLst>
            </p:cNvPr>
            <p:cNvSpPr/>
            <p:nvPr/>
          </p:nvSpPr>
          <p:spPr>
            <a:xfrm>
              <a:off x="3021713" y="1445698"/>
              <a:ext cx="4460755" cy="280988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AAC6B27A-0F4C-F026-3804-EAAB0132BF19}"/>
                </a:ext>
              </a:extLst>
            </p:cNvPr>
            <p:cNvSpPr/>
            <p:nvPr/>
          </p:nvSpPr>
          <p:spPr>
            <a:xfrm>
              <a:off x="7599254" y="5392157"/>
              <a:ext cx="4070831" cy="136210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C140BC6-D6A0-203B-2530-4E36349304B1}"/>
                </a:ext>
              </a:extLst>
            </p:cNvPr>
            <p:cNvSpPr/>
            <p:nvPr/>
          </p:nvSpPr>
          <p:spPr>
            <a:xfrm>
              <a:off x="8926144" y="4487821"/>
              <a:ext cx="2743941" cy="904335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D166892-383C-5AD0-7933-348BBBF28577}"/>
                </a:ext>
              </a:extLst>
            </p:cNvPr>
            <p:cNvSpPr/>
            <p:nvPr/>
          </p:nvSpPr>
          <p:spPr>
            <a:xfrm>
              <a:off x="7022949" y="3467682"/>
              <a:ext cx="215935" cy="48413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1270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062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A0FB-F583-662C-FAA0-001411AA6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0A9D51-846D-412D-B479-86ABD0BB44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</a:t>
            </a:r>
            <a:r>
              <a:rPr lang="en-US" altLang="ko-KR" dirty="0" err="1"/>
              <a:t>Refesh</a:t>
            </a:r>
            <a:r>
              <a:rPr lang="en-US" altLang="ko-KR" dirty="0"/>
              <a:t> Button </a:t>
            </a:r>
            <a:r>
              <a:rPr lang="ko-KR" altLang="en-US" dirty="0"/>
              <a:t>수정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3DEB-DA4C-986E-821B-FF59C3DEC538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Refresh </a:t>
            </a:r>
            <a:r>
              <a:rPr lang="ko-KR" altLang="en-US" dirty="0"/>
              <a:t>클릭 시 경로로 부터 파일</a:t>
            </a:r>
            <a:r>
              <a:rPr lang="en-US" altLang="ko-KR" dirty="0"/>
              <a:t>/</a:t>
            </a:r>
            <a:r>
              <a:rPr lang="ko-KR" altLang="en-US" dirty="0"/>
              <a:t>폴더 </a:t>
            </a:r>
            <a:r>
              <a:rPr lang="ko-KR" altLang="en-US" dirty="0" err="1"/>
              <a:t>재업로드</a:t>
            </a:r>
            <a:endParaRPr lang="en-US" altLang="ko-KR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A6EEF4E-1ED8-8544-CC0E-F3D9AB67629B}"/>
              </a:ext>
            </a:extLst>
          </p:cNvPr>
          <p:cNvGrpSpPr/>
          <p:nvPr/>
        </p:nvGrpSpPr>
        <p:grpSpPr>
          <a:xfrm>
            <a:off x="7309333" y="1952990"/>
            <a:ext cx="3686526" cy="4150340"/>
            <a:chOff x="7576962" y="1803222"/>
            <a:chExt cx="3686526" cy="41503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3084C70-A3BD-24B9-2F2C-EFF225C80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76962" y="1803222"/>
              <a:ext cx="3686526" cy="415034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0C565924-081B-DAEC-6EFF-26442D5D16A8}"/>
                </a:ext>
              </a:extLst>
            </p:cNvPr>
            <p:cNvSpPr/>
            <p:nvPr/>
          </p:nvSpPr>
          <p:spPr>
            <a:xfrm>
              <a:off x="9054790" y="2264702"/>
              <a:ext cx="2099157" cy="1919576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A2B23AC-952B-B886-B758-7FDDD9868FF7}"/>
              </a:ext>
            </a:extLst>
          </p:cNvPr>
          <p:cNvGrpSpPr/>
          <p:nvPr/>
        </p:nvGrpSpPr>
        <p:grpSpPr>
          <a:xfrm>
            <a:off x="432394" y="1803222"/>
            <a:ext cx="5433706" cy="4563305"/>
            <a:chOff x="432394" y="1803222"/>
            <a:chExt cx="5433706" cy="4563305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E03824E0-32C9-F648-3E24-F900A85C3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18701"/>
            <a:stretch>
              <a:fillRect/>
            </a:stretch>
          </p:blipFill>
          <p:spPr>
            <a:xfrm>
              <a:off x="432394" y="1803222"/>
              <a:ext cx="5410846" cy="222493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B7D8A1D-14E3-74EA-4336-AA8157C4A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2394" y="4364401"/>
              <a:ext cx="5410846" cy="200212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670AD05-B80E-CE9D-55EE-7B19271B33B0}"/>
                </a:ext>
              </a:extLst>
            </p:cNvPr>
            <p:cNvSpPr/>
            <p:nvPr/>
          </p:nvSpPr>
          <p:spPr>
            <a:xfrm>
              <a:off x="2264934" y="365760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FE283A6B-378C-EAE0-B558-34F23C7F00BB}"/>
                </a:ext>
              </a:extLst>
            </p:cNvPr>
            <p:cNvSpPr/>
            <p:nvPr/>
          </p:nvSpPr>
          <p:spPr>
            <a:xfrm>
              <a:off x="2264934" y="261682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A98AB10-64A6-B376-008E-548A3947588E}"/>
                </a:ext>
              </a:extLst>
            </p:cNvPr>
            <p:cNvSpPr/>
            <p:nvPr/>
          </p:nvSpPr>
          <p:spPr>
            <a:xfrm>
              <a:off x="2242074" y="5058936"/>
              <a:ext cx="3601166" cy="1129991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2331ACEB-E4DD-1706-7300-703CE672DD0F}"/>
                </a:ext>
              </a:extLst>
            </p:cNvPr>
            <p:cNvGrpSpPr/>
            <p:nvPr/>
          </p:nvGrpSpPr>
          <p:grpSpPr>
            <a:xfrm>
              <a:off x="2575931" y="4409383"/>
              <a:ext cx="1731518" cy="410826"/>
              <a:chOff x="2525131" y="4385690"/>
              <a:chExt cx="1731518" cy="410826"/>
            </a:xfrm>
          </p:grpSpPr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12A6F8AF-4CD4-9C56-0C89-8AFAC06E1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39713" t="9649" r="40737" b="77950"/>
              <a:stretch>
                <a:fillRect/>
              </a:stretch>
            </p:blipFill>
            <p:spPr>
              <a:xfrm>
                <a:off x="2525131" y="4390089"/>
                <a:ext cx="1731518" cy="406427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6A8C1E80-2969-ED04-9C0F-008FFC881F4B}"/>
                  </a:ext>
                </a:extLst>
              </p:cNvPr>
              <p:cNvSpPr/>
              <p:nvPr/>
            </p:nvSpPr>
            <p:spPr>
              <a:xfrm>
                <a:off x="2525131" y="4385690"/>
                <a:ext cx="1731518" cy="40642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92453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9B290-5FA6-8728-82A5-4E2A8623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33BCE3E-1FAD-4080-467B-F392F8724C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Defect Image </a:t>
            </a:r>
            <a:r>
              <a:rPr lang="ko-KR" altLang="en-US" dirty="0"/>
              <a:t>편집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EE8642F-4F14-05D7-367F-71BE6D329F4C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영상처리 </a:t>
            </a:r>
            <a:r>
              <a:rPr lang="en-US" altLang="ko-KR" dirty="0"/>
              <a:t>DLL </a:t>
            </a:r>
            <a:r>
              <a:rPr lang="ko-KR" altLang="en-US" dirty="0"/>
              <a:t>모듈 활용</a:t>
            </a:r>
            <a:endParaRPr lang="en-US" altLang="ko-KR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F9771927-DE8A-D957-D083-93411B299F42}"/>
              </a:ext>
            </a:extLst>
          </p:cNvPr>
          <p:cNvGrpSpPr/>
          <p:nvPr/>
        </p:nvGrpSpPr>
        <p:grpSpPr>
          <a:xfrm>
            <a:off x="1945260" y="1407598"/>
            <a:ext cx="8301479" cy="5111171"/>
            <a:chOff x="3021713" y="1445698"/>
            <a:chExt cx="8652759" cy="541230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B4F7A44-46A5-7178-EDAF-083751C69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44000"/>
                      </a14:imgEffect>
                      <a14:imgEffect>
                        <a14:brightnessContrast bright="-25000"/>
                      </a14:imgEffect>
                    </a14:imgLayer>
                  </a14:imgProps>
                </a:ext>
              </a:extLst>
            </a:blip>
            <a:srcRect l="-1" t="378" r="-27" b="-185"/>
            <a:stretch>
              <a:fillRect/>
            </a:stretch>
          </p:blipFill>
          <p:spPr>
            <a:xfrm>
              <a:off x="3021713" y="1445698"/>
              <a:ext cx="8652759" cy="54123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90BAFCD-CA3C-2585-519D-75A81A4ED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8909" t="56379" r="227" b="27396"/>
            <a:stretch>
              <a:fillRect/>
            </a:stretch>
          </p:blipFill>
          <p:spPr>
            <a:xfrm>
              <a:off x="8926144" y="4487823"/>
              <a:ext cx="2743941" cy="90433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50E50D1-D42B-CF88-7C54-A4E111822D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78" r="47954" b="47325"/>
            <a:stretch>
              <a:fillRect/>
            </a:stretch>
          </p:blipFill>
          <p:spPr>
            <a:xfrm>
              <a:off x="3021713" y="1445698"/>
              <a:ext cx="4460755" cy="280988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E05A281-F1B5-AADB-9BDC-F970821ECD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2852" t="73813" r="1907" b="2683"/>
            <a:stretch>
              <a:fillRect/>
            </a:stretch>
          </p:blipFill>
          <p:spPr>
            <a:xfrm>
              <a:off x="7599254" y="5392157"/>
              <a:ext cx="4070831" cy="13258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BA58D866-0AA4-134C-E70A-3A17B8EFDF6E}"/>
                </a:ext>
              </a:extLst>
            </p:cNvPr>
            <p:cNvSpPr/>
            <p:nvPr/>
          </p:nvSpPr>
          <p:spPr>
            <a:xfrm>
              <a:off x="3021713" y="1445698"/>
              <a:ext cx="4460755" cy="280988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9FB7A5C-E7BF-2569-105E-D8B4F3285E30}"/>
                </a:ext>
              </a:extLst>
            </p:cNvPr>
            <p:cNvSpPr/>
            <p:nvPr/>
          </p:nvSpPr>
          <p:spPr>
            <a:xfrm>
              <a:off x="7599254" y="5392157"/>
              <a:ext cx="4070831" cy="136210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63369AF-2706-58FD-A94D-5FD10474A4D9}"/>
                </a:ext>
              </a:extLst>
            </p:cNvPr>
            <p:cNvSpPr/>
            <p:nvPr/>
          </p:nvSpPr>
          <p:spPr>
            <a:xfrm>
              <a:off x="8926144" y="4487821"/>
              <a:ext cx="2743941" cy="904335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6F0A39FE-377E-834B-AEB5-800036B0E680}"/>
                </a:ext>
              </a:extLst>
            </p:cNvPr>
            <p:cNvSpPr/>
            <p:nvPr/>
          </p:nvSpPr>
          <p:spPr>
            <a:xfrm>
              <a:off x="7022949" y="3467682"/>
              <a:ext cx="215935" cy="48413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1270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4914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53D00-A32D-A850-993A-BB374A22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F8A00638-FF27-792E-07D7-027EB9D06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4000"/>
                    </a14:imgEffect>
                    <a14:imgEffect>
                      <a14:brightnessContrast bright="-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86669" y="643891"/>
            <a:ext cx="8881461" cy="59129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6A7A70A-B133-01B3-65AC-9F5F18555B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106720A-75C0-2614-AC03-A1FA6E4D5A38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127892FE-6B2B-C1E6-D332-A03DA2E8D793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1C437022-5708-345D-EB3C-78297EE1D329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파싱 </a:t>
            </a:r>
            <a:r>
              <a:rPr lang="ko-KR" altLang="en-US" dirty="0" err="1"/>
              <a:t>진행율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예외처리 및 경고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C00000"/>
                </a:solidFill>
              </a:rPr>
              <a:t>Data</a:t>
            </a:r>
            <a:r>
              <a:rPr lang="ko-KR" altLang="en-US" dirty="0">
                <a:solidFill>
                  <a:srgbClr val="C00000"/>
                </a:solidFill>
              </a:rPr>
              <a:t> </a:t>
            </a:r>
            <a:r>
              <a:rPr lang="en-US" altLang="ko-KR" dirty="0">
                <a:solidFill>
                  <a:srgbClr val="C00000"/>
                </a:solidFill>
              </a:rPr>
              <a:t>Format </a:t>
            </a:r>
            <a:r>
              <a:rPr lang="ko-KR" altLang="en-US" dirty="0">
                <a:solidFill>
                  <a:srgbClr val="C00000"/>
                </a:solidFill>
              </a:rPr>
              <a:t>차이 </a:t>
            </a:r>
            <a:r>
              <a:rPr lang="en-US" altLang="ko-KR" dirty="0">
                <a:solidFill>
                  <a:srgbClr val="C00000"/>
                </a:solidFill>
              </a:rPr>
              <a:t>- </a:t>
            </a:r>
            <a:r>
              <a:rPr lang="ko-KR" altLang="en-US" dirty="0">
                <a:solidFill>
                  <a:srgbClr val="C00000"/>
                </a:solidFill>
              </a:rPr>
              <a:t>경고</a:t>
            </a:r>
            <a:endParaRPr lang="en-US" altLang="ko-KR" dirty="0">
              <a:solidFill>
                <a:srgbClr val="C0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B7F1BD6-3C32-7411-B3EE-BB941AF179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5980" t="42113" r="31286" b="36274"/>
          <a:stretch>
            <a:fillRect/>
          </a:stretch>
        </p:blipFill>
        <p:spPr>
          <a:xfrm>
            <a:off x="7627399" y="1953791"/>
            <a:ext cx="3982247" cy="1764700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A4DC033-9B45-92DA-2B4F-AE33B3FD1992}"/>
              </a:ext>
            </a:extLst>
          </p:cNvPr>
          <p:cNvSpPr/>
          <p:nvPr/>
        </p:nvSpPr>
        <p:spPr>
          <a:xfrm>
            <a:off x="7627398" y="1953791"/>
            <a:ext cx="3982247" cy="1792628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0302937-ABF7-637F-CE86-B8B358155B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0" t="56186" r="50611" b="38579"/>
          <a:stretch>
            <a:fillRect/>
          </a:stretch>
        </p:blipFill>
        <p:spPr>
          <a:xfrm>
            <a:off x="1978641" y="3898820"/>
            <a:ext cx="5607020" cy="399186"/>
          </a:xfrm>
          <a:prstGeom prst="rect">
            <a:avLst/>
          </a:prstGeom>
        </p:spPr>
      </p:pic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4839590-689A-9976-DF28-EC12B6B8F516}"/>
              </a:ext>
            </a:extLst>
          </p:cNvPr>
          <p:cNvSpPr/>
          <p:nvPr/>
        </p:nvSpPr>
        <p:spPr>
          <a:xfrm>
            <a:off x="1978640" y="3898818"/>
            <a:ext cx="5607020" cy="39918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996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57774-DF88-82DB-CFDE-C2F41365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E3CE297-6D02-305E-D9D6-DC2446B5B4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5E975244-46E6-A215-A29B-A85FB38889B7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EC49409-2210-E1E2-D0E8-C1AA05BA4D95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E98B4B1E-51B3-F2B4-9EB6-2110A003A345}"/>
              </a:ext>
            </a:extLst>
          </p:cNvPr>
          <p:cNvGrpSpPr/>
          <p:nvPr/>
        </p:nvGrpSpPr>
        <p:grpSpPr>
          <a:xfrm>
            <a:off x="3209517" y="732002"/>
            <a:ext cx="8833179" cy="5747124"/>
            <a:chOff x="2908434" y="868724"/>
            <a:chExt cx="8833179" cy="5747124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39CDE57-4B4B-63B3-64B2-1305D0F8C3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68000"/>
                      </a14:imgEffect>
                      <a14:imgEffect>
                        <a14:brightnessContrast bright="-1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938754" y="899412"/>
              <a:ext cx="8772539" cy="568755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BA90F37-DC52-FAA4-79D1-5F500BED1AA4}"/>
                </a:ext>
              </a:extLst>
            </p:cNvPr>
            <p:cNvGrpSpPr/>
            <p:nvPr/>
          </p:nvGrpSpPr>
          <p:grpSpPr>
            <a:xfrm>
              <a:off x="2908434" y="868724"/>
              <a:ext cx="2139950" cy="1173131"/>
              <a:chOff x="2693061" y="1385036"/>
              <a:chExt cx="2139950" cy="1173131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A8D59DD4-4104-FEAB-E45B-9B96C0D346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45" t="-469" r="3016" b="4259"/>
              <a:stretch>
                <a:fillRect/>
              </a:stretch>
            </p:blipFill>
            <p:spPr>
              <a:xfrm>
                <a:off x="2693061" y="1407061"/>
                <a:ext cx="2139950" cy="115110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ECD2F7DF-25FB-9E0C-E818-D833B624870F}"/>
                  </a:ext>
                </a:extLst>
              </p:cNvPr>
              <p:cNvSpPr/>
              <p:nvPr/>
            </p:nvSpPr>
            <p:spPr>
              <a:xfrm>
                <a:off x="2693061" y="1385036"/>
                <a:ext cx="2139950" cy="115110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458DFA16-5B34-A9EB-DF23-CF84E8B0C5B4}"/>
                  </a:ext>
                </a:extLst>
              </p:cNvPr>
              <p:cNvSpPr/>
              <p:nvPr/>
            </p:nvSpPr>
            <p:spPr>
              <a:xfrm>
                <a:off x="2942165" y="2302031"/>
                <a:ext cx="1890846" cy="234112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665F7F9D-8C95-F387-32F5-B4D819D7817C}"/>
                </a:ext>
              </a:extLst>
            </p:cNvPr>
            <p:cNvGrpSpPr/>
            <p:nvPr/>
          </p:nvGrpSpPr>
          <p:grpSpPr>
            <a:xfrm>
              <a:off x="5249360" y="890749"/>
              <a:ext cx="5290625" cy="3462176"/>
              <a:chOff x="5249360" y="890749"/>
              <a:chExt cx="5290625" cy="3462176"/>
            </a:xfrm>
          </p:grpSpPr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61A0C89A-CB57-9634-6E23-850AA35AE8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5676" r="13756" b="39530"/>
              <a:stretch>
                <a:fillRect/>
              </a:stretch>
            </p:blipFill>
            <p:spPr>
              <a:xfrm>
                <a:off x="5249360" y="928289"/>
                <a:ext cx="5290625" cy="342463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DFE547BC-3165-5D53-B94C-B8EA4F341EB4}"/>
                  </a:ext>
                </a:extLst>
              </p:cNvPr>
              <p:cNvSpPr/>
              <p:nvPr/>
            </p:nvSpPr>
            <p:spPr>
              <a:xfrm>
                <a:off x="5267168" y="890749"/>
                <a:ext cx="5272817" cy="346217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314BEDE-5053-AA20-352F-85D99BF46489}"/>
                </a:ext>
              </a:extLst>
            </p:cNvPr>
            <p:cNvGrpSpPr/>
            <p:nvPr/>
          </p:nvGrpSpPr>
          <p:grpSpPr>
            <a:xfrm>
              <a:off x="7325023" y="4932062"/>
              <a:ext cx="4416590" cy="1683786"/>
              <a:chOff x="7295751" y="5103703"/>
              <a:chExt cx="4289038" cy="1483268"/>
            </a:xfrm>
          </p:grpSpPr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13757A75-15CB-7EE8-0609-492055422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50599" t="74776" r="1663" b="278"/>
              <a:stretch>
                <a:fillRect/>
              </a:stretch>
            </p:blipFill>
            <p:spPr>
              <a:xfrm>
                <a:off x="7295751" y="5103703"/>
                <a:ext cx="4289038" cy="145316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438E96B5-CE7A-B643-1296-48BFD8BDF78E}"/>
                  </a:ext>
                </a:extLst>
              </p:cNvPr>
              <p:cNvSpPr/>
              <p:nvPr/>
            </p:nvSpPr>
            <p:spPr>
              <a:xfrm>
                <a:off x="7295752" y="5103703"/>
                <a:ext cx="4289037" cy="1483268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0BEE5239-B861-78CE-F23E-59BB761D1B7E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CSV Export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93FC7B8-64E1-773E-5075-D117129C06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326" y="2047833"/>
            <a:ext cx="2770232" cy="3117272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B63E3E6-5575-29EC-DC60-4C060924F554}"/>
              </a:ext>
            </a:extLst>
          </p:cNvPr>
          <p:cNvSpPr/>
          <p:nvPr/>
        </p:nvSpPr>
        <p:spPr>
          <a:xfrm>
            <a:off x="246006" y="2047833"/>
            <a:ext cx="2774413" cy="3117272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374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E48D7-C9F4-8008-D262-337C096AB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BB8C73-1F8A-651E-9FFE-7C9E16DD82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02.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6F601F-5C13-7F08-C848-CE2A337DE5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39156" y="2649310"/>
            <a:ext cx="6752843" cy="914400"/>
          </a:xfrm>
        </p:spPr>
        <p:txBody>
          <a:bodyPr>
            <a:normAutofit/>
          </a:bodyPr>
          <a:lstStyle/>
          <a:p>
            <a:r>
              <a:rPr lang="ko-KR" altLang="en-US" dirty="0"/>
              <a:t>설계 변경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08500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ED38A-4AE0-D9ED-F712-F900B638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0023F8-C2F7-7A07-3D0D-3F5D14697300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Command Class </a:t>
            </a:r>
            <a:r>
              <a:rPr lang="ko-KR" altLang="en-US" dirty="0"/>
              <a:t>로 추가 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79DCD27-7320-5A44-AD31-DAC681F62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Command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B58D28-4E35-D7F5-3075-AFC28B90B8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26"/>
          <a:stretch>
            <a:fillRect/>
          </a:stretch>
        </p:blipFill>
        <p:spPr>
          <a:xfrm>
            <a:off x="276327" y="2682750"/>
            <a:ext cx="3236307" cy="21875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25C87-B27C-C893-691C-5295EF6A24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5" t="28942" r="1833"/>
          <a:stretch>
            <a:fillRect/>
          </a:stretch>
        </p:blipFill>
        <p:spPr>
          <a:xfrm>
            <a:off x="3851099" y="869795"/>
            <a:ext cx="8340901" cy="58134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707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B85E1-157C-E168-1AAF-40DD797B0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EA3236-2D7C-8829-9F4C-B7F66884B0BF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영상처리 과제 </a:t>
            </a:r>
            <a:r>
              <a:rPr lang="en-US" altLang="ko-KR" dirty="0"/>
              <a:t>DLL </a:t>
            </a:r>
            <a:r>
              <a:rPr lang="ko-KR" altLang="en-US" dirty="0"/>
              <a:t>이식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68100676-40F0-19E8-552B-D4FFA73C7F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Defect Image Process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A59E6C0-E057-4D82-D7BE-F18F32242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7" r="336"/>
          <a:stretch>
            <a:fillRect/>
          </a:stretch>
        </p:blipFill>
        <p:spPr bwMode="auto">
          <a:xfrm>
            <a:off x="0" y="1895129"/>
            <a:ext cx="8958868" cy="46361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411876E-8401-5388-8F39-E059C10E59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132"/>
          <a:stretch>
            <a:fillRect/>
          </a:stretch>
        </p:blipFill>
        <p:spPr>
          <a:xfrm>
            <a:off x="9222495" y="3241711"/>
            <a:ext cx="2874504" cy="1942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234918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/>
          <p:cNvSpPr txBox="1">
            <a:spLocks/>
          </p:cNvSpPr>
          <p:nvPr/>
        </p:nvSpPr>
        <p:spPr>
          <a:xfrm>
            <a:off x="12299745" y="11516346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mtClean="0">
                <a:solidFill>
                  <a:srgbClr val="C00000"/>
                </a:solidFill>
              </a:rPr>
              <a:pPr/>
              <a:t>17</a:t>
            </a:fld>
            <a:endParaRPr lang="ko-KR" altLang="en-US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209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831F78AA9756C44A0E98822651D84C6" ma:contentTypeVersion="17" ma:contentTypeDescription="새 문서를 만듭니다." ma:contentTypeScope="" ma:versionID="d5d5b2c4c8e1dd569b570341750d1320">
  <xsd:schema xmlns:xsd="http://www.w3.org/2001/XMLSchema" xmlns:xs="http://www.w3.org/2001/XMLSchema" xmlns:p="http://schemas.microsoft.com/office/2006/metadata/properties" xmlns:ns2="f6ed9a63-f138-448a-bdaa-ea16a4c16493" xmlns:ns3="a0ed6c54-e66b-4158-b288-34e409d8b249" targetNamespace="http://schemas.microsoft.com/office/2006/metadata/properties" ma:root="true" ma:fieldsID="e4c87dd5280524a987f1ec18a59f5fee" ns2:_="" ns3:_="">
    <xsd:import namespace="f6ed9a63-f138-448a-bdaa-ea16a4c16493"/>
    <xsd:import namespace="a0ed6c54-e66b-4158-b288-34e409d8b24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ed9a63-f138-448a-bdaa-ea16a4c164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이미지 태그" ma:readOnly="false" ma:fieldId="{5cf76f15-5ced-4ddc-b409-7134ff3c332f}" ma:taxonomyMulti="true" ma:sspId="1810d4f8-e228-4eb6-8de4-df9f2916e80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ed6c54-e66b-4158-b288-34e409d8b24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7844fd7-2201-4b0d-8263-b557f8741e84}" ma:internalName="TaxCatchAll" ma:showField="CatchAllData" ma:web="a0ed6c54-e66b-4158-b288-34e409d8b24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ed6c54-e66b-4158-b288-34e409d8b249" xsi:nil="true"/>
    <lcf76f155ced4ddcb4097134ff3c332f xmlns="f6ed9a63-f138-448a-bdaa-ea16a4c1649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A469F7-E466-4805-80A7-D107484366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ed9a63-f138-448a-bdaa-ea16a4c16493"/>
    <ds:schemaRef ds:uri="a0ed6c54-e66b-4158-b288-34e409d8b2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655753-57EE-420B-BE2F-00787092D55E}">
  <ds:schemaRefs>
    <ds:schemaRef ds:uri="http://www.w3.org/XML/1998/namespace"/>
    <ds:schemaRef ds:uri="http://schemas.microsoft.com/office/2006/documentManagement/types"/>
    <ds:schemaRef ds:uri="http://purl.org/dc/elements/1.1/"/>
    <ds:schemaRef ds:uri="a0ed6c54-e66b-4158-b288-34e409d8b249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f6ed9a63-f138-448a-bdaa-ea16a4c16493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5E1378E-A752-4FB5-A280-1EC738D77E8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12026</TotalTime>
  <Words>352</Words>
  <Application>Microsoft Office PowerPoint</Application>
  <PresentationFormat>와이드스크린</PresentationFormat>
  <Paragraphs>119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맑은 고딕</vt:lpstr>
      <vt:lpstr>Arial</vt:lpstr>
      <vt:lpstr>Helvetica</vt:lpstr>
      <vt:lpstr>Tahoma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차지혜</dc:creator>
  <cp:lastModifiedBy>안광윤</cp:lastModifiedBy>
  <cp:revision>1221</cp:revision>
  <dcterms:created xsi:type="dcterms:W3CDTF">2020-12-23T01:27:59Z</dcterms:created>
  <dcterms:modified xsi:type="dcterms:W3CDTF">2025-10-20T06:29:09Z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0x0101000831F78AA9756C44A0E98822651D84C6</vt:lpwstr>
  </property>
  <property fmtid="{D5CDD505-2E9C-101B-9397-08002B2CF9AE}" pid="3" name="MediaServiceImageTags">
    <vt:lpwstr/>
  </property>
</Properties>
</file>