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24"/>
  </p:notesMasterIdLst>
  <p:handoutMasterIdLst>
    <p:handoutMasterId r:id="rId25"/>
  </p:handoutMasterIdLst>
  <p:sldIdLst>
    <p:sldId id="303" r:id="rId6"/>
    <p:sldId id="297" r:id="rId7"/>
    <p:sldId id="309" r:id="rId8"/>
    <p:sldId id="397" r:id="rId9"/>
    <p:sldId id="442" r:id="rId10"/>
    <p:sldId id="453" r:id="rId11"/>
    <p:sldId id="449" r:id="rId12"/>
    <p:sldId id="454" r:id="rId13"/>
    <p:sldId id="455" r:id="rId14"/>
    <p:sldId id="450" r:id="rId15"/>
    <p:sldId id="457" r:id="rId16"/>
    <p:sldId id="458" r:id="rId17"/>
    <p:sldId id="460" r:id="rId18"/>
    <p:sldId id="398" r:id="rId19"/>
    <p:sldId id="368" r:id="rId20"/>
    <p:sldId id="456" r:id="rId21"/>
    <p:sldId id="459" r:id="rId22"/>
    <p:sldId id="29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B879949-2F60-4808-A162-D64120731F69}">
          <p14:sldIdLst>
            <p14:sldId id="303"/>
            <p14:sldId id="297"/>
            <p14:sldId id="309"/>
            <p14:sldId id="397"/>
            <p14:sldId id="442"/>
            <p14:sldId id="453"/>
            <p14:sldId id="449"/>
            <p14:sldId id="454"/>
            <p14:sldId id="455"/>
            <p14:sldId id="450"/>
            <p14:sldId id="457"/>
            <p14:sldId id="458"/>
            <p14:sldId id="460"/>
            <p14:sldId id="398"/>
            <p14:sldId id="368"/>
            <p14:sldId id="456"/>
            <p14:sldId id="459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안혜영" initials="안" lastIdx="3" clrIdx="0">
    <p:extLst>
      <p:ext uri="{19B8F6BF-5375-455C-9EA6-DF929625EA0E}">
        <p15:presenceInfo xmlns:p15="http://schemas.microsoft.com/office/powerpoint/2012/main" userId="S::hyahn@ati2000.co.kr::ea9588c1-7d88-44e4-af2a-597800d0f09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5555FD"/>
    <a:srgbClr val="FFFFFF"/>
    <a:srgbClr val="010101"/>
    <a:srgbClr val="9E9EFE"/>
    <a:srgbClr val="A3C7E7"/>
    <a:srgbClr val="FFE2DD"/>
    <a:srgbClr val="FFEEEB"/>
    <a:srgbClr val="FFDFD9"/>
    <a:srgbClr val="FFC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78141" autoAdjust="0"/>
  </p:normalViewPr>
  <p:slideViewPr>
    <p:cSldViewPr snapToGrid="0">
      <p:cViewPr varScale="1">
        <p:scale>
          <a:sx n="56" d="100"/>
          <a:sy n="56" d="100"/>
        </p:scale>
        <p:origin x="1742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EBF4-8E9E-4EEF-A1AD-6BC109FD57A9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686FA-589B-45F9-AF38-9C3EF7151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975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48644-31AA-42AE-9781-A6457094CA6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CE4C5-166D-4F9E-9D6C-812F301C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2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선행 </a:t>
            </a:r>
            <a:r>
              <a:rPr lang="en-US" altLang="ko-KR" dirty="0"/>
              <a:t>SW </a:t>
            </a:r>
            <a:r>
              <a:rPr lang="ko-KR" altLang="en-US" dirty="0"/>
              <a:t>그룹</a:t>
            </a:r>
            <a:r>
              <a:rPr lang="en-US" altLang="ko-KR" dirty="0"/>
              <a:t> </a:t>
            </a:r>
            <a:r>
              <a:rPr lang="ko-KR" altLang="en-US" dirty="0"/>
              <a:t>알고리즘 파트 안광윤 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491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960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EBC9-B871-628B-2EF6-BCDCB7E6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97CE4B-5AC2-BC03-F5CE-855E6CFDE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01001F-09D4-B9AD-7FD9-4807AA8A3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7ACC49-8BB3-0E4B-3FCA-A366E4199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39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2F31-4242-9651-2CD4-B32FDEE2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F28755-FE1B-E4BB-4B9B-A35D01143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40CF90-1E4F-2B1D-9E5F-D27A3E85E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EA8864-8140-CA37-0DD3-8DC9779E9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075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6282-32E6-3706-4E97-5431968E1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761E25-0541-9996-B002-D1F7479B5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F0DB56-26A1-1694-6FEA-6DBB5E355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30D038-5104-8E7A-DC74-ABA9D8B98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547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E18A-1293-5B8F-3752-A80ECD50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5B709E-3C69-8F1E-A0C6-EE3EB2CD2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71B7C0-5C2A-572D-92F8-296A801D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9C0D95-A329-48C6-EA86-0FB04B5A0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34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A8D21-2EC4-9AE0-4735-A225A584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69E1AC-C21B-7D2B-C853-790D33B34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2294B-13A2-65F9-A1AA-77FC10B0D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Wafer Map Render </a:t>
            </a:r>
            <a:r>
              <a:rPr lang="ko-KR" altLang="en-US" dirty="0"/>
              <a:t>구현 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Grid Size</a:t>
            </a:r>
            <a:r>
              <a:rPr lang="ko-KR" altLang="en-US" dirty="0"/>
              <a:t>에 따라 동적으로 </a:t>
            </a:r>
            <a:r>
              <a:rPr lang="en-US" altLang="ko-KR" dirty="0"/>
              <a:t>Wafer Map </a:t>
            </a:r>
            <a:r>
              <a:rPr lang="ko-KR" altLang="en-US" dirty="0"/>
              <a:t>을 렌더링 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각 </a:t>
            </a:r>
            <a:r>
              <a:rPr lang="en-US" altLang="ko-KR" dirty="0"/>
              <a:t>Die </a:t>
            </a:r>
            <a:r>
              <a:rPr lang="ko-KR" altLang="en-US" dirty="0"/>
              <a:t>사이즈는 가로 세로 너비를 </a:t>
            </a:r>
            <a:r>
              <a:rPr lang="en-US" altLang="ko-KR" dirty="0"/>
              <a:t>x, y </a:t>
            </a:r>
            <a:r>
              <a:rPr lang="ko-KR" altLang="en-US" dirty="0"/>
              <a:t>의 범위로 </a:t>
            </a:r>
            <a:r>
              <a:rPr lang="ko-KR" altLang="en-US" dirty="0" err="1"/>
              <a:t>나누어줍니다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</a:t>
            </a:r>
            <a:r>
              <a:rPr lang="en-US" altLang="ko-KR" dirty="0" err="1"/>
              <a:t>ItemControl</a:t>
            </a:r>
            <a:r>
              <a:rPr lang="en-US" altLang="ko-KR" dirty="0"/>
              <a:t> </a:t>
            </a:r>
            <a:r>
              <a:rPr lang="ko-KR" altLang="en-US" dirty="0"/>
              <a:t>태그에서 렌더링 할 수 있도록 각 </a:t>
            </a:r>
            <a:r>
              <a:rPr lang="ko-KR" altLang="en-US" dirty="0" err="1"/>
              <a:t>다이의</a:t>
            </a:r>
            <a:r>
              <a:rPr lang="ko-KR" altLang="en-US" dirty="0"/>
              <a:t> 좌표를 다음과 같이 변환 해줍니다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Xi ‘ = xi – min(x) </a:t>
            </a:r>
          </a:p>
          <a:p>
            <a:r>
              <a:rPr lang="en-US" altLang="ko-KR" dirty="0"/>
              <a:t>Yi ‘ = max(y) – </a:t>
            </a:r>
            <a:r>
              <a:rPr lang="en-US" altLang="ko-KR" dirty="0" err="1"/>
              <a:t>yi</a:t>
            </a:r>
            <a:endParaRPr lang="en-US" altLang="ko-KR" dirty="0"/>
          </a:p>
          <a:p>
            <a:r>
              <a:rPr lang="ko-KR" altLang="en-US" dirty="0"/>
              <a:t>와 같이 변환 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그러면 모든 좌표는 </a:t>
            </a:r>
            <a:r>
              <a:rPr lang="en-US" altLang="ko-KR" dirty="0"/>
              <a:t>0 </a:t>
            </a:r>
            <a:r>
              <a:rPr lang="ko-KR" altLang="en-US" dirty="0"/>
              <a:t>이상이 되며 시각적으로는 좌측 상단에서부터 </a:t>
            </a:r>
            <a:r>
              <a:rPr lang="en-US" altLang="ko-KR" dirty="0"/>
              <a:t>0,0 </a:t>
            </a:r>
            <a:r>
              <a:rPr lang="ko-KR" altLang="en-US" dirty="0"/>
              <a:t>이고 우측</a:t>
            </a:r>
            <a:r>
              <a:rPr lang="en-US" altLang="ko-KR" dirty="0"/>
              <a:t>, </a:t>
            </a:r>
            <a:r>
              <a:rPr lang="ko-KR" altLang="en-US" dirty="0"/>
              <a:t>하단으로 갈 수록 값이 증가합니다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B31B9E-C2A6-3081-99FE-4A79EFA9A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439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ED97E-0C2B-3F66-A0DE-8631C8D4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FC5EF1-F0F9-99FD-4276-58726131A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83D4A6-E27F-CD0E-8F66-574F2E62E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3AA4F6-B2BF-3B82-BF8F-724844384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490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F4E7-25E3-7F80-A726-CDD6FC33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854178-7E60-5DDE-ECF5-A1F9382C0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EB2F6-BEDF-E04D-6B16-728F3F4A6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지난</a:t>
            </a:r>
            <a:r>
              <a:rPr lang="en-US" altLang="ko-KR" dirty="0"/>
              <a:t> </a:t>
            </a:r>
            <a:r>
              <a:rPr lang="ko-KR" altLang="en-US" dirty="0"/>
              <a:t>주에는 </a:t>
            </a:r>
            <a:r>
              <a:rPr lang="en-US" altLang="ko-KR" dirty="0"/>
              <a:t>Refresh </a:t>
            </a:r>
            <a:r>
              <a:rPr lang="ko-KR" altLang="en-US" dirty="0"/>
              <a:t>버튼을 파일과 폴더 로드 목록을 지우는 기능을 했는데</a:t>
            </a:r>
            <a:endParaRPr lang="en-US" altLang="ko-KR" dirty="0"/>
          </a:p>
          <a:p>
            <a:r>
              <a:rPr lang="ko-KR" altLang="en-US" dirty="0"/>
              <a:t>생각해보니 경로들의 구조를 프로그램 내에서 재구성해 보여주는 기능임으로</a:t>
            </a:r>
            <a:endParaRPr lang="en-US" altLang="ko-KR" dirty="0"/>
          </a:p>
          <a:p>
            <a:r>
              <a:rPr lang="en-US" altLang="ko-KR" dirty="0"/>
              <a:t>System</a:t>
            </a:r>
            <a:r>
              <a:rPr lang="ko-KR" altLang="en-US" dirty="0"/>
              <a:t> 에서 폴더 및 파일 경로에 변경이 있을 시 </a:t>
            </a:r>
            <a:endParaRPr lang="en-US" altLang="ko-KR" dirty="0"/>
          </a:p>
          <a:p>
            <a:r>
              <a:rPr lang="ko-KR" altLang="en-US" dirty="0" err="1"/>
              <a:t>재로드</a:t>
            </a:r>
            <a:r>
              <a:rPr lang="ko-KR" altLang="en-US" dirty="0"/>
              <a:t> 해주는 하는 기능이 더 나을 것 같아 수정하였습니다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보시는 화면은 로드된 </a:t>
            </a:r>
            <a:r>
              <a:rPr lang="en-US" altLang="ko-KR" dirty="0"/>
              <a:t>csv </a:t>
            </a:r>
            <a:r>
              <a:rPr lang="ko-KR" altLang="en-US" dirty="0"/>
              <a:t>파일을 시스템에서 제거 후 다시 프로그램에서 </a:t>
            </a:r>
            <a:r>
              <a:rPr lang="ko-KR" altLang="en-US" dirty="0" err="1"/>
              <a:t>리프레시</a:t>
            </a:r>
            <a:r>
              <a:rPr lang="ko-KR" altLang="en-US" dirty="0"/>
              <a:t> 버튼을 누른 결과 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C3DA4-8B05-1987-C950-C037D4A97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15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326C-7CA1-C634-A525-EBC64117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A21C3A-9159-10C4-5E68-A0D8BA994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BDE8EE-0023-12D0-9916-53A98FA3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Defect Image </a:t>
            </a:r>
            <a:r>
              <a:rPr lang="ko-KR" altLang="en-US" dirty="0"/>
              <a:t>에 대한 간단한 영상 처리 기능을 구현하였습니다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3D76E-F86D-9BF9-E9A6-CCB5E7FB9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442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BFA9B-C486-60BE-72B1-BD11707F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C95765-F1CF-D983-8A6F-8F692ADDB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79AC48-4DE9-D73D-E1CB-43C2F4E59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편집한 이미지를 </a:t>
            </a:r>
            <a:r>
              <a:rPr lang="en-US" altLang="ko-KR" dirty="0"/>
              <a:t>Defect image </a:t>
            </a:r>
            <a:r>
              <a:rPr lang="ko-KR" altLang="en-US" dirty="0"/>
              <a:t>뷰어에 적용시키고 </a:t>
            </a:r>
            <a:endParaRPr lang="en-US" altLang="ko-KR" dirty="0"/>
          </a:p>
          <a:p>
            <a:r>
              <a:rPr lang="en-US" altLang="ko-KR" dirty="0"/>
              <a:t>File </a:t>
            </a:r>
            <a:r>
              <a:rPr lang="en-US" altLang="ko-KR" dirty="0" err="1"/>
              <a:t>ListViewer</a:t>
            </a:r>
            <a:r>
              <a:rPr lang="ko-KR" altLang="en-US" dirty="0"/>
              <a:t>의 </a:t>
            </a:r>
            <a:r>
              <a:rPr lang="en-US" altLang="ko-KR" dirty="0"/>
              <a:t>Save All Image </a:t>
            </a:r>
            <a:r>
              <a:rPr lang="ko-KR" altLang="en-US" dirty="0"/>
              <a:t>버튼을 통해 수정된 </a:t>
            </a:r>
            <a:r>
              <a:rPr lang="en-US" altLang="ko-KR" dirty="0"/>
              <a:t>Tif </a:t>
            </a:r>
            <a:r>
              <a:rPr lang="ko-KR" altLang="en-US" dirty="0"/>
              <a:t>파일 전체를 저장할 수 있도록 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7436B7-9031-C5A6-1474-3F028CA0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242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265F-708A-E9BB-2652-B16051B6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151868-6689-BD1D-E3C3-818D6AE08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1E474D-E879-5EC6-EF61-7D465A97F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추가 데이터 분석을 위해 </a:t>
            </a:r>
            <a:endParaRPr lang="en-US" altLang="ko-KR" dirty="0"/>
          </a:p>
          <a:p>
            <a:r>
              <a:rPr lang="en-US" altLang="ko-KR" dirty="0"/>
              <a:t>csv </a:t>
            </a:r>
            <a:r>
              <a:rPr lang="ko-KR" altLang="en-US" dirty="0"/>
              <a:t>확장자로 내보내는 기능을 영상처리 과제로 부터 이식하였습니다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5809F-DDB3-B5C9-8ABA-1A5E775DF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027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BC16-34E2-3C44-69EB-6AE013CA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3D40B-BE32-C0D7-E838-708795779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F4C64D-60F5-E622-86DD-81D25B918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기타 기능 사항으로는 비동기적으로 파싱 진행율을 표시하여 </a:t>
            </a:r>
            <a:endParaRPr lang="en-US" altLang="ko-KR" dirty="0"/>
          </a:p>
          <a:p>
            <a:r>
              <a:rPr lang="ko-KR" altLang="en-US" dirty="0"/>
              <a:t>사용자가 시각적으로 알 수 있게 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</a:t>
            </a:r>
            <a:r>
              <a:rPr lang="en-US" altLang="ko-KR" dirty="0"/>
              <a:t>UI</a:t>
            </a:r>
            <a:r>
              <a:rPr lang="ko-KR" altLang="en-US" dirty="0"/>
              <a:t>에 배치된 정보를 가져오지 못할 경우 경고 창을 띄웁니다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1E176-26EE-4A4D-692D-48352073D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18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4429-FA4C-32E8-6557-17463A9E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E32D67-2256-38B4-0E81-9A27A4703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8F2CB8-FD73-7087-D2AE-DE17DC5AA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CE774A-B168-E285-1053-F31F8726F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043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A4F5B-8086-976D-C299-E3D34FB3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87A108-C21F-5F4B-553A-35D0D7E49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2E7C8-36FB-8599-3FC6-AC4ECF57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커맨드 버튼이 많아져 이를 따로 분리하여 각 버튼에 알맞은 커스텀 커맨드를 구현하였습니다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BE2C6-BE44-D2FA-3D61-C49E56590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136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3867-BDCA-3524-6702-91C6BBD1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79EA7-994B-CC12-6D18-2AF03FDFD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F246A9-3DED-8971-3999-4CCEA2B8C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영상처리를 위해 이전 과제에서 사용한 영상처리 모듈을 이식 하려 했으나</a:t>
            </a:r>
            <a:endParaRPr lang="en-US" altLang="ko-KR" dirty="0"/>
          </a:p>
          <a:p>
            <a:r>
              <a:rPr lang="ko-KR" altLang="en-US" dirty="0"/>
              <a:t>프로그램 종속성 및 설정 문제로 완료 하지 못했습니다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507EF3-4255-9133-4820-227379CB2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6584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CE4C5-166D-4F9E-9D6C-812F301C01B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5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59AA5A34-AC86-4225-8B16-193E9DC943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62" y="-12603"/>
            <a:ext cx="12294523" cy="6870603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7C5D6C6B-F42E-4731-96BF-8DD16CCB27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391" y="1412587"/>
            <a:ext cx="3648075" cy="85725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title" hasCustomPrompt="1"/>
          </p:nvPr>
        </p:nvSpPr>
        <p:spPr>
          <a:xfrm>
            <a:off x="791654" y="1628444"/>
            <a:ext cx="10515600" cy="9144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856734" y="2672976"/>
            <a:ext cx="10371439" cy="304070"/>
          </a:xfrm>
        </p:spPr>
        <p:txBody>
          <a:bodyPr anchor="ctr"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353306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DAAE79-7C61-41D5-84EC-5B9CB9A241A7}"/>
              </a:ext>
            </a:extLst>
          </p:cNvPr>
          <p:cNvSpPr txBox="1"/>
          <p:nvPr userDrawn="1"/>
        </p:nvSpPr>
        <p:spPr>
          <a:xfrm>
            <a:off x="625138" y="3374993"/>
            <a:ext cx="230343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0126CD-D619-47E5-AE10-92AD2CDAD12C}"/>
              </a:ext>
            </a:extLst>
          </p:cNvPr>
          <p:cNvSpPr txBox="1"/>
          <p:nvPr userDrawn="1"/>
        </p:nvSpPr>
        <p:spPr>
          <a:xfrm>
            <a:off x="3829732" y="3374095"/>
            <a:ext cx="7737130" cy="638115"/>
          </a:xfrm>
          <a:prstGeom prst="rect">
            <a:avLst/>
          </a:prstGeom>
          <a:noFill/>
        </p:spPr>
        <p:txBody>
          <a:bodyPr wrap="square" lIns="83302" tIns="41652" rIns="83302" bIns="41652" rtlCol="0">
            <a:spAutoFit/>
          </a:bodyPr>
          <a:lstStyle/>
          <a:p>
            <a:r>
              <a:rPr lang="en-US" altLang="ko-KR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presentation is confidential and may not be reproduced or distributed to others at any time without our prior written consent.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102B2-22DD-4BD6-8F1B-DC70002BE89F}"/>
              </a:ext>
            </a:extLst>
          </p:cNvPr>
          <p:cNvSpPr txBox="1"/>
          <p:nvPr userDrawn="1"/>
        </p:nvSpPr>
        <p:spPr>
          <a:xfrm>
            <a:off x="3829732" y="4324391"/>
            <a:ext cx="7661629" cy="1870056"/>
          </a:xfrm>
          <a:prstGeom prst="rect">
            <a:avLst/>
          </a:prstGeom>
          <a:noFill/>
        </p:spPr>
        <p:txBody>
          <a:bodyPr wrap="square" lIns="83302" tIns="41652" rIns="83302" bIns="41652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contained herein shall be construed as granting or conferring any rights by license or otherwise in any Confidential Information.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4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Information may pertain to prospective or unannounced products.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4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Recipient agrees not to use any Confidential Information as a basis upon </a:t>
            </a:r>
            <a:b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to develop or have a third party develop a competing or similar product.</a:t>
            </a: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BCC16327-9328-4EE9-A528-9A7BAE18D8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84" y="2851596"/>
            <a:ext cx="449553" cy="39666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C95AFED-FC1F-464D-994B-526BEBDBF2B4}"/>
              </a:ext>
            </a:extLst>
          </p:cNvPr>
          <p:cNvSpPr/>
          <p:nvPr userDrawn="1"/>
        </p:nvSpPr>
        <p:spPr>
          <a:xfrm>
            <a:off x="-49722" y="-16778"/>
            <a:ext cx="12294000" cy="72000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96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aseline="-25000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3C91F94E-CB27-4C2E-841F-C5FF074EBB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684" y="2851596"/>
            <a:ext cx="450000" cy="3970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16DA4A-B41C-4A94-AFC1-957C120EF6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711" y="268783"/>
            <a:ext cx="1972034" cy="31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8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2391030E-8571-49CB-B278-AEEC8022140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261" y="-12603"/>
            <a:ext cx="12294521" cy="6870603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89D01A-D26E-4D5F-B09E-DC3AE77CC5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48025" y="-12603"/>
            <a:ext cx="8995236" cy="687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6F291569-376C-4476-BC84-DC65F6EB0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733" y="2974422"/>
            <a:ext cx="3584136" cy="3707613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2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B049121-830D-4BA5-A063-05499473C8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1" y="272388"/>
            <a:ext cx="2017942" cy="298812"/>
          </a:xfrm>
          <a:prstGeom prst="rect">
            <a:avLst/>
          </a:prstGeom>
        </p:spPr>
      </p:pic>
      <p:pic>
        <p:nvPicPr>
          <p:cNvPr id="30" name="그래픽 29">
            <a:extLst>
              <a:ext uri="{FF2B5EF4-FFF2-40B4-BE49-F238E27FC236}">
                <a16:creationId xmlns:a16="http://schemas.microsoft.com/office/drawing/2014/main" id="{347DFBB8-539F-4F79-A6B7-321FF5E181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2504" b="37366"/>
          <a:stretch/>
        </p:blipFill>
        <p:spPr>
          <a:xfrm>
            <a:off x="-51262" y="3422698"/>
            <a:ext cx="4299141" cy="3454062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2ADF2F1F-6847-4A2E-91A5-0E298BE6C6DA}"/>
              </a:ext>
            </a:extLst>
          </p:cNvPr>
          <p:cNvGrpSpPr>
            <a:grpSpLocks/>
          </p:cNvGrpSpPr>
          <p:nvPr userDrawn="1"/>
        </p:nvGrpSpPr>
        <p:grpSpPr>
          <a:xfrm>
            <a:off x="3963682" y="658265"/>
            <a:ext cx="2346540" cy="764922"/>
            <a:chOff x="4487875" y="1679865"/>
            <a:chExt cx="2346540" cy="764922"/>
          </a:xfrm>
        </p:grpSpPr>
        <p:sp>
          <p:nvSpPr>
            <p:cNvPr id="33" name="TextBox 1">
              <a:extLst>
                <a:ext uri="{FF2B5EF4-FFF2-40B4-BE49-F238E27FC236}">
                  <a16:creationId xmlns:a16="http://schemas.microsoft.com/office/drawing/2014/main" id="{C8D77D73-B810-4223-8C3F-5A84CE1845FE}"/>
                </a:ext>
              </a:extLst>
            </p:cNvPr>
            <p:cNvSpPr txBox="1">
              <a:spLocks/>
            </p:cNvSpPr>
            <p:nvPr userDrawn="1"/>
          </p:nvSpPr>
          <p:spPr bwMode="auto">
            <a:xfrm>
              <a:off x="4487875" y="1679865"/>
              <a:ext cx="234654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r>
                <a:rPr lang="en-US" altLang="ko-KR" sz="3200" b="1">
                  <a:solidFill>
                    <a:srgbClr val="C00000"/>
                  </a:solidFill>
                  <a:latin typeface="맑은 고딕"/>
                  <a:ea typeface="맑은 고딕"/>
                  <a:cs typeface="Helvetica"/>
                </a:rPr>
                <a:t>CONTENTS</a:t>
              </a:r>
              <a:endParaRPr kumimoji="0" lang="ko-KR" altLang="en-US" sz="3200" b="1">
                <a:solidFill>
                  <a:srgbClr val="C00000"/>
                </a:solidFill>
                <a:latin typeface="+mj-ea"/>
                <a:ea typeface="+mj-ea"/>
                <a:cs typeface="Helvetica" panose="020B060402020202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9F759A6-8911-4AEB-8F30-DBD3E466D617}"/>
                </a:ext>
              </a:extLst>
            </p:cNvPr>
            <p:cNvSpPr>
              <a:spLocks/>
            </p:cNvSpPr>
            <p:nvPr userDrawn="1"/>
          </p:nvSpPr>
          <p:spPr>
            <a:xfrm>
              <a:off x="4622115" y="2364810"/>
              <a:ext cx="2124000" cy="79977"/>
            </a:xfrm>
            <a:prstGeom prst="rect">
              <a:avLst/>
            </a:prstGeom>
            <a:gradFill flip="none" rotWithShape="1">
              <a:gsLst>
                <a:gs pos="39300">
                  <a:srgbClr val="881C21"/>
                </a:gs>
                <a:gs pos="100000">
                  <a:srgbClr val="651519"/>
                </a:gs>
                <a:gs pos="0">
                  <a:srgbClr val="C0000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텍스트 개체 틀 22">
            <a:extLst>
              <a:ext uri="{FF2B5EF4-FFF2-40B4-BE49-F238E27FC236}">
                <a16:creationId xmlns:a16="http://schemas.microsoft.com/office/drawing/2014/main" id="{D1744234-9166-4288-8426-DB22F494BE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2871" y="2974422"/>
            <a:ext cx="1874138" cy="3683119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01</a:t>
            </a:r>
          </a:p>
          <a:p>
            <a:pPr lvl="0"/>
            <a:r>
              <a:rPr lang="en-US" altLang="ko-KR" dirty="0"/>
              <a:t>02</a:t>
            </a:r>
          </a:p>
          <a:p>
            <a:pPr lvl="0"/>
            <a:r>
              <a:rPr lang="en-US" altLang="ko-KR" dirty="0"/>
              <a:t>03</a:t>
            </a:r>
          </a:p>
          <a:p>
            <a:pPr lvl="0"/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A93730-320B-48A7-997B-5B264F786C01}"/>
              </a:ext>
            </a:extLst>
          </p:cNvPr>
          <p:cNvSpPr>
            <a:spLocks/>
          </p:cNvSpPr>
          <p:nvPr userDrawn="1"/>
        </p:nvSpPr>
        <p:spPr>
          <a:xfrm>
            <a:off x="8389202" y="3124200"/>
            <a:ext cx="50400" cy="3733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30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변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C176295-0793-448E-A16D-CDF85DF998E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744"/>
          <a:stretch/>
        </p:blipFill>
        <p:spPr>
          <a:xfrm>
            <a:off x="-1" y="-12603"/>
            <a:ext cx="12192001" cy="1460403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E6340A84-6DC1-45CE-85B4-9AB89E96A6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2504" b="37366"/>
          <a:stretch/>
        </p:blipFill>
        <p:spPr>
          <a:xfrm>
            <a:off x="-1" y="82574"/>
            <a:ext cx="4043494" cy="32486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7C6760-9EE5-45B7-A259-D2E9A2847D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1" y="196188"/>
            <a:ext cx="2017942" cy="298812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8E079ACA-6456-45FF-A006-FFD5DF1F1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4690" y="2261387"/>
            <a:ext cx="3584136" cy="3707613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5" name="텍스트 개체 틀 22">
            <a:extLst>
              <a:ext uri="{FF2B5EF4-FFF2-40B4-BE49-F238E27FC236}">
                <a16:creationId xmlns:a16="http://schemas.microsoft.com/office/drawing/2014/main" id="{AC6B3461-ED30-48A1-8BBC-D48608BDDE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26100" y="2261387"/>
            <a:ext cx="1874138" cy="3683119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01</a:t>
            </a:r>
          </a:p>
          <a:p>
            <a:pPr lvl="0"/>
            <a:r>
              <a:rPr lang="en-US" altLang="ko-KR"/>
              <a:t>02</a:t>
            </a:r>
          </a:p>
          <a:p>
            <a:pPr lvl="0"/>
            <a:r>
              <a:rPr lang="en-US" altLang="ko-KR"/>
              <a:t>03</a:t>
            </a:r>
          </a:p>
          <a:p>
            <a:pPr lvl="0"/>
            <a:r>
              <a:rPr lang="en-US" altLang="ko-KR"/>
              <a:t>04</a:t>
            </a: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A93730-320B-48A7-997B-5B264F786C01}"/>
              </a:ext>
            </a:extLst>
          </p:cNvPr>
          <p:cNvSpPr>
            <a:spLocks/>
          </p:cNvSpPr>
          <p:nvPr userDrawn="1"/>
        </p:nvSpPr>
        <p:spPr>
          <a:xfrm>
            <a:off x="7659064" y="2379600"/>
            <a:ext cx="46800" cy="447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6B899D1-6228-44E2-AB32-E11326ADEEA3}"/>
              </a:ext>
            </a:extLst>
          </p:cNvPr>
          <p:cNvGrpSpPr/>
          <p:nvPr userDrawn="1"/>
        </p:nvGrpSpPr>
        <p:grpSpPr>
          <a:xfrm>
            <a:off x="982794" y="2134503"/>
            <a:ext cx="2346540" cy="764922"/>
            <a:chOff x="4043494" y="603094"/>
            <a:chExt cx="2346540" cy="764922"/>
          </a:xfrm>
        </p:grpSpPr>
        <p:sp>
          <p:nvSpPr>
            <p:cNvPr id="19" name="TextBox 1">
              <a:extLst>
                <a:ext uri="{FF2B5EF4-FFF2-40B4-BE49-F238E27FC236}">
                  <a16:creationId xmlns:a16="http://schemas.microsoft.com/office/drawing/2014/main" id="{EECB34FB-268F-4870-A1F6-F216C225D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3494" y="603094"/>
              <a:ext cx="234654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r>
                <a:rPr lang="en-US" altLang="ko-KR" sz="3200" b="1">
                  <a:solidFill>
                    <a:srgbClr val="C00000"/>
                  </a:solidFill>
                  <a:latin typeface="맑은 고딕"/>
                  <a:ea typeface="맑은 고딕"/>
                  <a:cs typeface="Helvetica"/>
                </a:rPr>
                <a:t>CONTENTS</a:t>
              </a:r>
              <a:endParaRPr kumimoji="0" lang="ko-KR" altLang="en-US" sz="3200" b="1">
                <a:solidFill>
                  <a:srgbClr val="C00000"/>
                </a:solidFill>
                <a:latin typeface="+mj-ea"/>
                <a:ea typeface="+mj-ea"/>
                <a:cs typeface="Helvetica" panose="020B060402020202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C8A38F9-8209-45E3-8C04-102316FCFA1C}"/>
                </a:ext>
              </a:extLst>
            </p:cNvPr>
            <p:cNvSpPr/>
            <p:nvPr/>
          </p:nvSpPr>
          <p:spPr>
            <a:xfrm>
              <a:off x="4177734" y="1288039"/>
              <a:ext cx="2124000" cy="79977"/>
            </a:xfrm>
            <a:prstGeom prst="rect">
              <a:avLst/>
            </a:prstGeom>
            <a:gradFill flip="none" rotWithShape="1">
              <a:gsLst>
                <a:gs pos="39300">
                  <a:srgbClr val="881C21"/>
                </a:gs>
                <a:gs pos="100000">
                  <a:srgbClr val="651519"/>
                </a:gs>
                <a:gs pos="0">
                  <a:srgbClr val="C0000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496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1A779B7-3B5D-4970-810D-100A6F9A3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965" y="0"/>
            <a:ext cx="12215928" cy="6870601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6259484" y="3902772"/>
            <a:ext cx="5124872" cy="1073015"/>
          </a:xfrm>
        </p:spPr>
        <p:txBody>
          <a:bodyPr>
            <a:noAutofit/>
          </a:bodyPr>
          <a:lstStyle>
            <a:lvl1pPr marL="0" indent="0" algn="r">
              <a:buNone/>
              <a:defRPr sz="8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/>
              <a:t>0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186249" y="5247619"/>
            <a:ext cx="10173167" cy="914400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슬라이드 서브 타이틀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338B5FA-530B-4FFD-A903-FA36DE34983F}"/>
              </a:ext>
            </a:extLst>
          </p:cNvPr>
          <p:cNvCxnSpPr>
            <a:cxnSpLocks/>
          </p:cNvCxnSpPr>
          <p:nvPr userDrawn="1"/>
        </p:nvCxnSpPr>
        <p:spPr>
          <a:xfrm>
            <a:off x="10191404" y="5158673"/>
            <a:ext cx="1005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12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08F1-621E-4D3A-AC39-03AD2E90532A}"/>
              </a:ext>
            </a:extLst>
          </p:cNvPr>
          <p:cNvSpPr txBox="1">
            <a:spLocks/>
          </p:cNvSpPr>
          <p:nvPr userDrawn="1"/>
        </p:nvSpPr>
        <p:spPr>
          <a:xfrm>
            <a:off x="11614846" y="6391210"/>
            <a:ext cx="770694" cy="402483"/>
          </a:xfrm>
          <a:prstGeom prst="rect">
            <a:avLst/>
          </a:prstGeom>
        </p:spPr>
        <p:txBody>
          <a:bodyPr vert="horz" lIns="91440" tIns="45720" rIns="91440" bIns="7200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ln>
                  <a:solidFill>
                    <a:srgbClr val="998467">
                      <a:alpha val="0"/>
                    </a:srgbClr>
                  </a:solidFill>
                </a:ln>
                <a:solidFill>
                  <a:schemeClr val="tx1">
                    <a:tint val="75000"/>
                  </a:schemeClr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900">
                <a:solidFill>
                  <a:schemeClr val="bg1">
                    <a:lumMod val="50000"/>
                  </a:schemeClr>
                </a:solidFill>
              </a:rPr>
              <a:t>│ </a:t>
            </a:r>
            <a:r>
              <a:rPr lang="en-US" altLang="ko-KR" sz="900">
                <a:solidFill>
                  <a:srgbClr val="C00000"/>
                </a:solidFill>
              </a:rPr>
              <a:t> </a:t>
            </a:r>
            <a:fld id="{2DCB18FE-46AA-4BE0-88C7-F5AF093AC2C4}" type="slidenum">
              <a:rPr lang="ko-KR" altLang="en-US" sz="900" smtClean="0">
                <a:solidFill>
                  <a:srgbClr val="C00000"/>
                </a:solidFill>
              </a:rPr>
              <a:pPr algn="l"/>
              <a:t>‹#›</a:t>
            </a:fld>
            <a:endParaRPr lang="ko-KR" altLang="en-US" sz="800">
              <a:solidFill>
                <a:srgbClr val="C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74D566-5290-49D3-910B-25549DCA8EFF}"/>
              </a:ext>
            </a:extLst>
          </p:cNvPr>
          <p:cNvSpPr/>
          <p:nvPr userDrawn="1"/>
        </p:nvSpPr>
        <p:spPr>
          <a:xfrm>
            <a:off x="382897" y="795847"/>
            <a:ext cx="684000" cy="79977"/>
          </a:xfrm>
          <a:prstGeom prst="rect">
            <a:avLst/>
          </a:prstGeom>
          <a:gradFill flip="none" rotWithShape="1">
            <a:gsLst>
              <a:gs pos="39300">
                <a:srgbClr val="881C21"/>
              </a:gs>
              <a:gs pos="100000">
                <a:srgbClr val="651519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C82754-4F5C-45BA-B4D5-14EBD1CE9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843" y="6426830"/>
            <a:ext cx="1787003" cy="287872"/>
          </a:xfrm>
          <a:prstGeom prst="rect">
            <a:avLst/>
          </a:prstGeom>
        </p:spPr>
      </p:pic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08606B09-FF37-41C3-A486-9819CF6A9095}"/>
              </a:ext>
            </a:extLst>
          </p:cNvPr>
          <p:cNvSpPr/>
          <p:nvPr userDrawn="1"/>
        </p:nvSpPr>
        <p:spPr>
          <a:xfrm>
            <a:off x="10211564" y="0"/>
            <a:ext cx="1704109" cy="289845"/>
          </a:xfrm>
          <a:prstGeom prst="round2SameRect">
            <a:avLst>
              <a:gd name="adj1" fmla="val 0"/>
              <a:gd name="adj2" fmla="val 42810"/>
            </a:avLst>
          </a:prstGeom>
          <a:gradFill flip="none" rotWithShape="1">
            <a:gsLst>
              <a:gs pos="100000">
                <a:srgbClr val="C00000"/>
              </a:gs>
              <a:gs pos="17000">
                <a:srgbClr val="96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 Confidential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DB25EE3C-0B8B-4EF0-8B82-CFB86B53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83" y="228762"/>
            <a:ext cx="11607589" cy="55758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308082" y="1015111"/>
            <a:ext cx="11607589" cy="1235210"/>
          </a:xfrm>
        </p:spPr>
        <p:txBody>
          <a:bodyPr>
            <a:spAutoFit/>
          </a:bodyPr>
          <a:lstStyle>
            <a:lvl1pPr>
              <a:defRPr sz="160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4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1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1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4274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뒤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26ABAB9-B5A4-4A9B-9734-AF13015059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202" y="-12603"/>
            <a:ext cx="12214403" cy="6870601"/>
          </a:xfrm>
          <a:prstGeom prst="rect">
            <a:avLst/>
          </a:prstGeom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329212" y="4803948"/>
            <a:ext cx="401962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6000" b="1">
                <a:solidFill>
                  <a:schemeClr val="bg1"/>
                </a:solidFill>
                <a:latin typeface="+mj-ea"/>
                <a:ea typeface="+mj-ea"/>
                <a:cs typeface="Helvetica" panose="020B0604020202020204" pitchFamily="34" charset="0"/>
              </a:rPr>
              <a:t>Thank You</a:t>
            </a:r>
            <a:endParaRPr kumimoji="0" lang="ko-KR" altLang="en-US" sz="6000" b="1">
              <a:solidFill>
                <a:schemeClr val="bg1"/>
              </a:solidFill>
              <a:latin typeface="+mj-ea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78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A9DFDAD-DDA1-49A4-9653-D80F4E78B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261" y="-12603"/>
            <a:ext cx="12294521" cy="687060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289809B-E029-4D03-90E6-1A977BB1DDB6}"/>
              </a:ext>
            </a:extLst>
          </p:cNvPr>
          <p:cNvSpPr/>
          <p:nvPr userDrawn="1"/>
        </p:nvSpPr>
        <p:spPr>
          <a:xfrm>
            <a:off x="-49722" y="-16778"/>
            <a:ext cx="12294000" cy="72000"/>
          </a:xfrm>
          <a:prstGeom prst="rect">
            <a:avLst/>
          </a:prstGeom>
          <a:gradFill>
            <a:gsLst>
              <a:gs pos="0">
                <a:srgbClr val="C00000">
                  <a:alpha val="80000"/>
                </a:srgbClr>
              </a:gs>
              <a:gs pos="100000">
                <a:srgbClr val="96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aseline="-25000"/>
          </a:p>
        </p:txBody>
      </p:sp>
    </p:spTree>
    <p:extLst>
      <p:ext uri="{BB962C8B-B14F-4D97-AF65-F5344CB8AC3E}">
        <p14:creationId xmlns:p14="http://schemas.microsoft.com/office/powerpoint/2010/main" val="1345317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94" y="1242203"/>
            <a:ext cx="9026107" cy="562442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008528" y="-1017153"/>
            <a:ext cx="4840941" cy="6858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2" y="1187362"/>
            <a:ext cx="4145639" cy="25605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1" y="6019680"/>
            <a:ext cx="2256441" cy="363495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824906" y="1579897"/>
            <a:ext cx="7660737" cy="914400"/>
          </a:xfrm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r>
              <a:rPr lang="ko-KR" altLang="en-US" sz="4000" b="1" dirty="0">
                <a:solidFill>
                  <a:schemeClr val="bg1"/>
                </a:solidFill>
                <a:latin typeface="Helvetica" panose="020B0604020202020204" pitchFamily="34" charset="0"/>
                <a:ea typeface="맑은 고딕" panose="020B0503020000020004" pitchFamily="50" charset="-127"/>
                <a:cs typeface="Helvetica" panose="020B0604020202020204" pitchFamily="34" charset="0"/>
              </a:rPr>
              <a:t>제목을 입력하세요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880512" y="2640648"/>
            <a:ext cx="1165046" cy="250525"/>
          </a:xfrm>
        </p:spPr>
        <p:txBody>
          <a:bodyPr anchor="ctr"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날짜 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270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fe Harb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608538" y="406725"/>
            <a:ext cx="230343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Confidentiality</a:t>
            </a:r>
          </a:p>
        </p:txBody>
      </p:sp>
      <p:sp>
        <p:nvSpPr>
          <p:cNvPr id="9" name="직사각형 8"/>
          <p:cNvSpPr/>
          <p:nvPr userDrawn="1"/>
        </p:nvSpPr>
        <p:spPr>
          <a:xfrm flipH="1">
            <a:off x="715108" y="943832"/>
            <a:ext cx="684000" cy="54000"/>
          </a:xfrm>
          <a:prstGeom prst="rect">
            <a:avLst/>
          </a:prstGeom>
          <a:gradFill>
            <a:gsLst>
              <a:gs pos="100000">
                <a:srgbClr val="8F0A0E"/>
              </a:gs>
              <a:gs pos="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641" y="6419418"/>
            <a:ext cx="1787003" cy="287872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625138" y="1254623"/>
            <a:ext cx="10735226" cy="638115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presentation is confidential and may not be reproduced or distributed to others at any time </a:t>
            </a:r>
            <a:b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our prior written consent.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25138" y="2308093"/>
            <a:ext cx="9887238" cy="212518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contained herein shall be construed as granting or conferring any rights by license or otherwise </a:t>
            </a:r>
            <a:b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any Confidential Information.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Information may pertain to prospective or unannounced products.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Recipient agrees not to use any Confidential Information as a basis upon </a:t>
            </a:r>
            <a:b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to develop or have a third party develop a competing or similar product.</a:t>
            </a:r>
          </a:p>
        </p:txBody>
      </p:sp>
    </p:spTree>
    <p:extLst>
      <p:ext uri="{BB962C8B-B14F-4D97-AF65-F5344CB8AC3E}">
        <p14:creationId xmlns:p14="http://schemas.microsoft.com/office/powerpoint/2010/main" val="1213017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1999" cy="1691648"/>
          </a:xfrm>
          <a:prstGeom prst="rect">
            <a:avLst/>
          </a:prstGeom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1599285" y="2197003"/>
            <a:ext cx="23465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3200" b="1" dirty="0">
                <a:solidFill>
                  <a:srgbClr val="C00000"/>
                </a:solidFill>
                <a:latin typeface="맑은 고딕"/>
                <a:ea typeface="맑은 고딕"/>
                <a:cs typeface="Helvetica"/>
              </a:rPr>
              <a:t>CONTENTS</a:t>
            </a:r>
            <a:endParaRPr kumimoji="0" lang="ko-KR" altLang="en-US" sz="3200" b="1" dirty="0">
              <a:solidFill>
                <a:srgbClr val="C00000"/>
              </a:solidFill>
              <a:latin typeface="+mj-ea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84"/>
          <a:stretch/>
        </p:blipFill>
        <p:spPr>
          <a:xfrm rot="16200000" flipH="1">
            <a:off x="2593555" y="-2573667"/>
            <a:ext cx="1670891" cy="6858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472" y="566748"/>
            <a:ext cx="1801529" cy="11225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4716B69-7D4E-4421-BF4F-0FFF93D26C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280" y="137145"/>
            <a:ext cx="1777955" cy="26327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FCC072-B52A-4FAE-979C-4A223AA649FF}"/>
              </a:ext>
            </a:extLst>
          </p:cNvPr>
          <p:cNvSpPr/>
          <p:nvPr userDrawn="1"/>
        </p:nvSpPr>
        <p:spPr>
          <a:xfrm>
            <a:off x="1695076" y="2781778"/>
            <a:ext cx="2101064" cy="99967"/>
          </a:xfrm>
          <a:prstGeom prst="rect">
            <a:avLst/>
          </a:prstGeom>
          <a:gradFill flip="none" rotWithShape="1">
            <a:gsLst>
              <a:gs pos="39300">
                <a:srgbClr val="881C21"/>
              </a:gs>
              <a:gs pos="100000">
                <a:srgbClr val="651519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7741089" y="2526837"/>
            <a:ext cx="0" cy="4331163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092899" y="2230203"/>
            <a:ext cx="569404" cy="4627796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44" name="직사각형 43"/>
          <p:cNvSpPr/>
          <p:nvPr userDrawn="1"/>
        </p:nvSpPr>
        <p:spPr>
          <a:xfrm>
            <a:off x="7713923" y="2474096"/>
            <a:ext cx="47852" cy="47839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40000"/>
              </a:solidFill>
            </a:endParaRPr>
          </a:p>
        </p:txBody>
      </p:sp>
      <p:sp>
        <p:nvSpPr>
          <p:cNvPr id="53" name="텍스트 개체 틀 52"/>
          <p:cNvSpPr>
            <a:spLocks noGrp="1"/>
          </p:cNvSpPr>
          <p:nvPr>
            <p:ph type="body" sz="quarter" idx="11" hasCustomPrompt="1"/>
          </p:nvPr>
        </p:nvSpPr>
        <p:spPr>
          <a:xfrm>
            <a:off x="7840561" y="2230203"/>
            <a:ext cx="3434164" cy="464472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입력하세요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9514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94" y="1242203"/>
            <a:ext cx="9026107" cy="562442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008528" y="-1017153"/>
            <a:ext cx="4840941" cy="6858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2" y="1187362"/>
            <a:ext cx="4145639" cy="25605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1" y="6019680"/>
            <a:ext cx="2256441" cy="363495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824906" y="1579897"/>
            <a:ext cx="7660737" cy="914400"/>
          </a:xfrm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r>
              <a:rPr lang="ko-KR" altLang="en-US" sz="4000" b="1" dirty="0">
                <a:solidFill>
                  <a:schemeClr val="bg1"/>
                </a:solidFill>
                <a:latin typeface="Helvetica" panose="020B0604020202020204" pitchFamily="34" charset="0"/>
                <a:ea typeface="맑은 고딕" panose="020B0503020000020004" pitchFamily="50" charset="-127"/>
                <a:cs typeface="Helvetica" panose="020B0604020202020204" pitchFamily="34" charset="0"/>
              </a:rPr>
              <a:t>제목을 입력하세요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880512" y="2640648"/>
            <a:ext cx="1165046" cy="250525"/>
          </a:xfrm>
        </p:spPr>
        <p:txBody>
          <a:bodyPr anchor="ctr">
            <a:normAutofit/>
          </a:bodyPr>
          <a:lstStyle>
            <a:lvl1pPr marL="0" indent="0">
              <a:buNone/>
              <a:defRPr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날짜 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4821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fe Harb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608538" y="406725"/>
            <a:ext cx="230343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Confidentiality</a:t>
            </a:r>
          </a:p>
        </p:txBody>
      </p:sp>
      <p:sp>
        <p:nvSpPr>
          <p:cNvPr id="9" name="직사각형 8"/>
          <p:cNvSpPr/>
          <p:nvPr userDrawn="1"/>
        </p:nvSpPr>
        <p:spPr>
          <a:xfrm flipH="1">
            <a:off x="715108" y="943832"/>
            <a:ext cx="684000" cy="54000"/>
          </a:xfrm>
          <a:prstGeom prst="rect">
            <a:avLst/>
          </a:prstGeom>
          <a:gradFill>
            <a:gsLst>
              <a:gs pos="100000">
                <a:srgbClr val="8F0A0E"/>
              </a:gs>
              <a:gs pos="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641" y="6419418"/>
            <a:ext cx="1787003" cy="287872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625138" y="1254623"/>
            <a:ext cx="10735226" cy="638115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presentation is confidential and may not be reproduced or distributed to others at any time </a:t>
            </a:r>
            <a:b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our prior written consent.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625138" y="2308093"/>
            <a:ext cx="9887238" cy="212518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contained herein shall be construed as granting or conferring any rights by license or otherwise </a:t>
            </a:r>
            <a:b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any Confidential Information.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Information may pertain to prospective or unannounced products.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Recipient agrees not to use any Confidential Information as a basis upon </a:t>
            </a:r>
            <a:b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to develop or have a third party develop a competing or similar product.</a:t>
            </a:r>
          </a:p>
        </p:txBody>
      </p:sp>
    </p:spTree>
    <p:extLst>
      <p:ext uri="{BB962C8B-B14F-4D97-AF65-F5344CB8AC3E}">
        <p14:creationId xmlns:p14="http://schemas.microsoft.com/office/powerpoint/2010/main" val="521505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1999" cy="1691648"/>
          </a:xfrm>
          <a:prstGeom prst="rect">
            <a:avLst/>
          </a:prstGeom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1599285" y="2197003"/>
            <a:ext cx="23465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3200" b="1" dirty="0">
                <a:solidFill>
                  <a:srgbClr val="C00000"/>
                </a:solidFill>
                <a:latin typeface="맑은 고딕"/>
                <a:ea typeface="맑은 고딕"/>
                <a:cs typeface="Helvetica"/>
              </a:rPr>
              <a:t>CONTENTS</a:t>
            </a:r>
            <a:endParaRPr kumimoji="0" lang="ko-KR" altLang="en-US" sz="3200" b="1" dirty="0">
              <a:solidFill>
                <a:srgbClr val="C00000"/>
              </a:solidFill>
              <a:latin typeface="+mj-ea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84"/>
          <a:stretch/>
        </p:blipFill>
        <p:spPr>
          <a:xfrm rot="16200000" flipH="1">
            <a:off x="2593555" y="-2573667"/>
            <a:ext cx="1670891" cy="6858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472" y="566748"/>
            <a:ext cx="1801529" cy="11225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4716B69-7D4E-4421-BF4F-0FFF93D26C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280" y="137145"/>
            <a:ext cx="1777955" cy="26327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FCC072-B52A-4FAE-979C-4A223AA649FF}"/>
              </a:ext>
            </a:extLst>
          </p:cNvPr>
          <p:cNvSpPr/>
          <p:nvPr userDrawn="1"/>
        </p:nvSpPr>
        <p:spPr>
          <a:xfrm>
            <a:off x="1695076" y="2781778"/>
            <a:ext cx="2101064" cy="99967"/>
          </a:xfrm>
          <a:prstGeom prst="rect">
            <a:avLst/>
          </a:prstGeom>
          <a:gradFill flip="none" rotWithShape="1">
            <a:gsLst>
              <a:gs pos="39300">
                <a:srgbClr val="881C21"/>
              </a:gs>
              <a:gs pos="100000">
                <a:srgbClr val="651519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7741089" y="2526837"/>
            <a:ext cx="0" cy="4331163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092899" y="2230203"/>
            <a:ext cx="569404" cy="4627796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44" name="직사각형 43"/>
          <p:cNvSpPr/>
          <p:nvPr userDrawn="1"/>
        </p:nvSpPr>
        <p:spPr>
          <a:xfrm>
            <a:off x="7713923" y="2474096"/>
            <a:ext cx="47852" cy="47839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40000"/>
              </a:solidFill>
            </a:endParaRPr>
          </a:p>
        </p:txBody>
      </p:sp>
      <p:sp>
        <p:nvSpPr>
          <p:cNvPr id="53" name="텍스트 개체 틀 52"/>
          <p:cNvSpPr>
            <a:spLocks noGrp="1"/>
          </p:cNvSpPr>
          <p:nvPr>
            <p:ph type="body" sz="quarter" idx="11" hasCustomPrompt="1"/>
          </p:nvPr>
        </p:nvSpPr>
        <p:spPr>
          <a:xfrm>
            <a:off x="7840561" y="2230203"/>
            <a:ext cx="3434164" cy="464472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입력하세요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60214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E9BC08-1F92-4AD1-86A3-C41C2223A6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4F5F0E-1CF6-44DB-96A5-586F9479302E}"/>
              </a:ext>
            </a:extLst>
          </p:cNvPr>
          <p:cNvSpPr/>
          <p:nvPr userDrawn="1"/>
        </p:nvSpPr>
        <p:spPr>
          <a:xfrm>
            <a:off x="0" y="3383573"/>
            <a:ext cx="12192000" cy="90855"/>
          </a:xfrm>
          <a:prstGeom prst="rect">
            <a:avLst/>
          </a:prstGeom>
          <a:gradFill flip="none" rotWithShape="1">
            <a:gsLst>
              <a:gs pos="0">
                <a:srgbClr val="881C21"/>
              </a:gs>
              <a:gs pos="100000">
                <a:srgbClr val="651519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FD4D829-36C2-4504-B7E5-007475BC235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92" y="1476601"/>
            <a:ext cx="3600000" cy="360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F942A7-FABC-4356-9BD0-9884C1FB51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2" y="642856"/>
            <a:ext cx="3040778" cy="4779818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1024285" y="1602173"/>
            <a:ext cx="1917323" cy="1073015"/>
          </a:xfrm>
        </p:spPr>
        <p:txBody>
          <a:bodyPr>
            <a:noAutofit/>
          </a:bodyPr>
          <a:lstStyle>
            <a:lvl1pPr marL="0" indent="0">
              <a:buNone/>
              <a:defRPr sz="8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8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Helvetica" panose="020B0604020202020204" pitchFamily="34" charset="0"/>
              </a:rPr>
              <a:t>01.</a:t>
            </a:r>
            <a:endParaRPr lang="ko-KR" altLang="en-US" sz="8000" dirty="0">
              <a:solidFill>
                <a:schemeClr val="bg1"/>
              </a:solidFill>
              <a:latin typeface="+mn-ea"/>
              <a:cs typeface="Helvetica" panose="020B0604020202020204" pitchFamily="34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5439157" y="2649310"/>
            <a:ext cx="6335900" cy="914400"/>
          </a:xfrm>
        </p:spPr>
        <p:txBody>
          <a:bodyPr anchor="ctr">
            <a:normAutofit/>
          </a:bodyPr>
          <a:lstStyle>
            <a:lvl1pPr marL="0" indent="0">
              <a:buNone/>
              <a:defRPr sz="3600" b="1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슬라이드 서브 타이틀</a:t>
            </a:r>
          </a:p>
        </p:txBody>
      </p:sp>
    </p:spTree>
    <p:extLst>
      <p:ext uri="{BB962C8B-B14F-4D97-AF65-F5344CB8AC3E}">
        <p14:creationId xmlns:p14="http://schemas.microsoft.com/office/powerpoint/2010/main" val="296872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1683050" y="6515899"/>
            <a:ext cx="40957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ln>
                  <a:solidFill>
                    <a:srgbClr val="998467">
                      <a:alpha val="0"/>
                    </a:srgbClr>
                  </a:solidFill>
                </a:ln>
                <a:solidFill>
                  <a:schemeClr val="tx1">
                    <a:tint val="75000"/>
                  </a:schemeClr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CB18FE-46AA-4BE0-88C7-F5AF093AC2C4}" type="slidenum">
              <a:rPr lang="ko-KR" altLang="en-US" sz="800" smtClean="0">
                <a:solidFill>
                  <a:srgbClr val="C00000"/>
                </a:solidFill>
              </a:rPr>
              <a:pPr/>
              <a:t>‹#›</a:t>
            </a:fld>
            <a:endParaRPr lang="ko-KR" altLang="en-US" sz="800">
              <a:solidFill>
                <a:srgbClr val="C00000"/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2084000" y="6702938"/>
            <a:ext cx="108000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 userDrawn="1"/>
        </p:nvSpPr>
        <p:spPr>
          <a:xfrm>
            <a:off x="382897" y="762595"/>
            <a:ext cx="684000" cy="79977"/>
          </a:xfrm>
          <a:prstGeom prst="rect">
            <a:avLst/>
          </a:prstGeom>
          <a:gradFill flip="none" rotWithShape="1">
            <a:gsLst>
              <a:gs pos="39300">
                <a:srgbClr val="881C21"/>
              </a:gs>
              <a:gs pos="100000">
                <a:srgbClr val="651519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641" y="268784"/>
            <a:ext cx="1787003" cy="287872"/>
          </a:xfrm>
          <a:prstGeom prst="rect">
            <a:avLst/>
          </a:prstGeom>
        </p:spPr>
      </p:pic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76327" y="301131"/>
            <a:ext cx="8333416" cy="430871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입력하세요</a:t>
            </a:r>
            <a:endParaRPr lang="en-US" altLang="ko-KR" sz="2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1" hasCustomPrompt="1"/>
          </p:nvPr>
        </p:nvSpPr>
        <p:spPr>
          <a:xfrm>
            <a:off x="276327" y="1037525"/>
            <a:ext cx="7505670" cy="8344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16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내용을 입력하세요</a:t>
            </a:r>
            <a:endParaRPr lang="en-US" altLang="ko-KR" sz="16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한쪽 모서리 228">
            <a:extLst>
              <a:ext uri="{FF2B5EF4-FFF2-40B4-BE49-F238E27FC236}">
                <a16:creationId xmlns:a16="http://schemas.microsoft.com/office/drawing/2014/main" id="{31E1F217-0E2E-4143-BACB-F9FD2CBFC6AA}"/>
              </a:ext>
            </a:extLst>
          </p:cNvPr>
          <p:cNvSpPr/>
          <p:nvPr userDrawn="1"/>
        </p:nvSpPr>
        <p:spPr>
          <a:xfrm>
            <a:off x="0" y="6515899"/>
            <a:ext cx="2125981" cy="289844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8F0A0E"/>
              </a:gs>
              <a:gs pos="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57A0F-E26F-41AC-8987-F7C82D0B052B}"/>
              </a:ext>
            </a:extLst>
          </p:cNvPr>
          <p:cNvSpPr txBox="1"/>
          <p:nvPr userDrawn="1"/>
        </p:nvSpPr>
        <p:spPr>
          <a:xfrm>
            <a:off x="439739" y="6580030"/>
            <a:ext cx="1343342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5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70068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텍스트 수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1683050" y="6515899"/>
            <a:ext cx="40957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ln>
                  <a:solidFill>
                    <a:srgbClr val="998467">
                      <a:alpha val="0"/>
                    </a:srgbClr>
                  </a:solidFill>
                </a:ln>
                <a:solidFill>
                  <a:schemeClr val="tx1">
                    <a:tint val="75000"/>
                  </a:schemeClr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CB18FE-46AA-4BE0-88C7-F5AF093AC2C4}" type="slidenum">
              <a:rPr lang="ko-KR" altLang="en-US" sz="800" smtClean="0">
                <a:solidFill>
                  <a:srgbClr val="C00000"/>
                </a:solidFill>
              </a:rPr>
              <a:pPr/>
              <a:t>‹#›</a:t>
            </a:fld>
            <a:endParaRPr lang="ko-KR" altLang="en-US" sz="800">
              <a:solidFill>
                <a:srgbClr val="C00000"/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2084000" y="6702938"/>
            <a:ext cx="108000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 userDrawn="1"/>
        </p:nvSpPr>
        <p:spPr>
          <a:xfrm>
            <a:off x="382897" y="762595"/>
            <a:ext cx="684000" cy="79977"/>
          </a:xfrm>
          <a:prstGeom prst="rect">
            <a:avLst/>
          </a:prstGeom>
          <a:gradFill flip="none" rotWithShape="1">
            <a:gsLst>
              <a:gs pos="39300">
                <a:srgbClr val="881C21"/>
              </a:gs>
              <a:gs pos="100000">
                <a:srgbClr val="651519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641" y="268784"/>
            <a:ext cx="1787003" cy="287872"/>
          </a:xfrm>
          <a:prstGeom prst="rect">
            <a:avLst/>
          </a:prstGeom>
        </p:spPr>
      </p:pic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76327" y="301131"/>
            <a:ext cx="8333416" cy="430871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입력하세요</a:t>
            </a:r>
            <a:endParaRPr lang="en-US" altLang="ko-KR" sz="2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1" hasCustomPrompt="1"/>
          </p:nvPr>
        </p:nvSpPr>
        <p:spPr>
          <a:xfrm>
            <a:off x="276327" y="1037525"/>
            <a:ext cx="7505670" cy="757043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16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내용을 입력하세요</a:t>
            </a:r>
            <a:endParaRPr lang="en-US" altLang="ko-KR" sz="16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828074" y="1794568"/>
            <a:ext cx="4468545" cy="4305831"/>
          </a:xfrm>
        </p:spPr>
        <p:txBody>
          <a:bodyPr/>
          <a:lstStyle>
            <a:lvl1pPr>
              <a:defRPr sz="20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텍스트 첫째 수준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사각형: 둥근 한쪽 모서리 228">
            <a:extLst>
              <a:ext uri="{FF2B5EF4-FFF2-40B4-BE49-F238E27FC236}">
                <a16:creationId xmlns:a16="http://schemas.microsoft.com/office/drawing/2014/main" id="{31E1F217-0E2E-4143-BACB-F9FD2CBFC6AA}"/>
              </a:ext>
            </a:extLst>
          </p:cNvPr>
          <p:cNvSpPr/>
          <p:nvPr userDrawn="1"/>
        </p:nvSpPr>
        <p:spPr>
          <a:xfrm>
            <a:off x="0" y="6515899"/>
            <a:ext cx="2125981" cy="289844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8F0A0E"/>
              </a:gs>
              <a:gs pos="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57A0F-E26F-41AC-8987-F7C82D0B052B}"/>
              </a:ext>
            </a:extLst>
          </p:cNvPr>
          <p:cNvSpPr txBox="1"/>
          <p:nvPr userDrawn="1"/>
        </p:nvSpPr>
        <p:spPr>
          <a:xfrm>
            <a:off x="439739" y="6580030"/>
            <a:ext cx="1343342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5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59734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11683050" y="6515899"/>
            <a:ext cx="40957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ln>
                  <a:solidFill>
                    <a:srgbClr val="998467">
                      <a:alpha val="0"/>
                    </a:srgbClr>
                  </a:solidFill>
                </a:ln>
                <a:solidFill>
                  <a:schemeClr val="tx1">
                    <a:tint val="75000"/>
                  </a:schemeClr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CB18FE-46AA-4BE0-88C7-F5AF093AC2C4}" type="slidenum">
              <a:rPr lang="ko-KR" altLang="en-US" sz="800" smtClean="0">
                <a:solidFill>
                  <a:srgbClr val="C00000"/>
                </a:solidFill>
              </a:rPr>
              <a:pPr/>
              <a:t>‹#›</a:t>
            </a:fld>
            <a:endParaRPr lang="ko-KR" altLang="en-US" sz="800">
              <a:solidFill>
                <a:srgbClr val="C00000"/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2084000" y="6702938"/>
            <a:ext cx="108000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 userDrawn="1"/>
        </p:nvSpPr>
        <p:spPr>
          <a:xfrm>
            <a:off x="382897" y="762595"/>
            <a:ext cx="684000" cy="79977"/>
          </a:xfrm>
          <a:prstGeom prst="rect">
            <a:avLst/>
          </a:prstGeom>
          <a:gradFill flip="none" rotWithShape="1">
            <a:gsLst>
              <a:gs pos="39300">
                <a:srgbClr val="881C21"/>
              </a:gs>
              <a:gs pos="100000">
                <a:srgbClr val="651519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641" y="268784"/>
            <a:ext cx="1787003" cy="287872"/>
          </a:xfrm>
          <a:prstGeom prst="rect">
            <a:avLst/>
          </a:prstGeom>
        </p:spPr>
      </p:pic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76327" y="301131"/>
            <a:ext cx="8333416" cy="430871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입력하세요</a:t>
            </a:r>
            <a:endParaRPr lang="en-US" altLang="ko-KR" sz="2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1" hasCustomPrompt="1"/>
          </p:nvPr>
        </p:nvSpPr>
        <p:spPr>
          <a:xfrm>
            <a:off x="276327" y="1037525"/>
            <a:ext cx="7505670" cy="34511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16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내용을 입력하세요</a:t>
            </a:r>
            <a:endParaRPr lang="en-US" altLang="ko-KR" sz="16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한쪽 모서리 228">
            <a:extLst>
              <a:ext uri="{FF2B5EF4-FFF2-40B4-BE49-F238E27FC236}">
                <a16:creationId xmlns:a16="http://schemas.microsoft.com/office/drawing/2014/main" id="{31E1F217-0E2E-4143-BACB-F9FD2CBFC6AA}"/>
              </a:ext>
            </a:extLst>
          </p:cNvPr>
          <p:cNvSpPr/>
          <p:nvPr userDrawn="1"/>
        </p:nvSpPr>
        <p:spPr>
          <a:xfrm>
            <a:off x="0" y="6515899"/>
            <a:ext cx="2125981" cy="289844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8F0A0E"/>
              </a:gs>
              <a:gs pos="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57A0F-E26F-41AC-8987-F7C82D0B052B}"/>
              </a:ext>
            </a:extLst>
          </p:cNvPr>
          <p:cNvSpPr txBox="1"/>
          <p:nvPr userDrawn="1"/>
        </p:nvSpPr>
        <p:spPr>
          <a:xfrm>
            <a:off x="439739" y="6580030"/>
            <a:ext cx="1343342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5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8008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뒤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94" y="1242203"/>
            <a:ext cx="9026107" cy="56244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008528" y="-1008530"/>
            <a:ext cx="4840941" cy="6858000"/>
          </a:xfrm>
          <a:prstGeom prst="rect">
            <a:avLst/>
          </a:prstGeom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778100" y="2118937"/>
            <a:ext cx="443788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6600" b="1" dirty="0">
                <a:solidFill>
                  <a:schemeClr val="bg1"/>
                </a:solidFill>
                <a:latin typeface="+mj-ea"/>
                <a:ea typeface="+mj-ea"/>
                <a:cs typeface="Helvetica" panose="020B0604020202020204" pitchFamily="34" charset="0"/>
              </a:rPr>
              <a:t>Thank You</a:t>
            </a:r>
            <a:endParaRPr kumimoji="0" lang="ko-KR" altLang="en-US" sz="6600" b="1" dirty="0">
              <a:solidFill>
                <a:schemeClr val="bg1"/>
              </a:solidFill>
              <a:latin typeface="+mj-ea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716B69-7D4E-4421-BF4F-0FFF93D26CF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00" y="1371943"/>
            <a:ext cx="2191443" cy="3245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9633554" y="6389879"/>
            <a:ext cx="2346712" cy="361116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pPr algn="r"/>
            <a:r>
              <a:rPr lang="en-US" altLang="ko-KR" sz="9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of ATI 2021. All rights reserved</a:t>
            </a:r>
          </a:p>
          <a:p>
            <a:pPr algn="r"/>
            <a:r>
              <a:rPr lang="en-US" altLang="ko-KR" sz="9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</a:rPr>
              <a:t>www.ati2000.co.kr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49" y="1089667"/>
            <a:ext cx="2698228" cy="16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7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1A6A9-4EC0-4F01-BA4C-EB9C78191CD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88B99-6572-41AC-9FB3-72C30835AE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0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51" r:id="rId3"/>
    <p:sldLayoutId id="2147483670" r:id="rId4"/>
    <p:sldLayoutId id="2147483653" r:id="rId5"/>
    <p:sldLayoutId id="2147483669" r:id="rId6"/>
    <p:sldLayoutId id="2147483655" r:id="rId7"/>
    <p:sldLayoutId id="2147483666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1A6A9-4EC0-4F01-BA4C-EB9C78191CD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88B99-6572-41AC-9FB3-72C30835AE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8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2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5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824906" y="1579897"/>
            <a:ext cx="10194076" cy="914400"/>
          </a:xfrm>
        </p:spPr>
        <p:txBody>
          <a:bodyPr>
            <a:normAutofit/>
          </a:bodyPr>
          <a:lstStyle/>
          <a:p>
            <a:r>
              <a:rPr lang="en-US" altLang="ko-KR"/>
              <a:t>13</a:t>
            </a:r>
            <a:r>
              <a:rPr lang="ko-KR" altLang="en-US"/>
              <a:t>주차 </a:t>
            </a:r>
            <a:r>
              <a:rPr lang="ko-KR" altLang="en-US" dirty="0"/>
              <a:t>과제 발표 </a:t>
            </a:r>
            <a:r>
              <a:rPr lang="en-US" altLang="ko-KR" dirty="0"/>
              <a:t>– </a:t>
            </a:r>
            <a:r>
              <a:rPr lang="en-US" altLang="ko-KR" dirty="0" err="1"/>
              <a:t>Klarf</a:t>
            </a:r>
            <a:r>
              <a:rPr lang="ko-KR" altLang="en-US" dirty="0"/>
              <a:t> 실습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880512" y="2640648"/>
            <a:ext cx="2464572" cy="276172"/>
          </a:xfrm>
        </p:spPr>
        <p:txBody>
          <a:bodyPr>
            <a:normAutofit/>
          </a:bodyPr>
          <a:lstStyle/>
          <a:p>
            <a:r>
              <a:rPr lang="ko-KR" altLang="en-US" dirty="0"/>
              <a:t>선행</a:t>
            </a:r>
            <a:r>
              <a:rPr lang="en-US" altLang="ko-KR" dirty="0"/>
              <a:t>SW / </a:t>
            </a:r>
            <a:r>
              <a:rPr lang="ko-KR" altLang="en-US" dirty="0"/>
              <a:t>알고리즘</a:t>
            </a:r>
            <a:r>
              <a:rPr lang="en-US" altLang="ko-KR" dirty="0"/>
              <a:t> / </a:t>
            </a:r>
            <a:r>
              <a:rPr lang="ko-KR" altLang="en-US" dirty="0"/>
              <a:t>안광윤</a:t>
            </a:r>
          </a:p>
        </p:txBody>
      </p:sp>
    </p:spTree>
    <p:extLst>
      <p:ext uri="{BB962C8B-B14F-4D97-AF65-F5344CB8AC3E}">
        <p14:creationId xmlns:p14="http://schemas.microsoft.com/office/powerpoint/2010/main" val="415172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44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01</a:t>
            </a:r>
          </a:p>
          <a:p>
            <a:r>
              <a:rPr lang="en-US" altLang="ko-KR" dirty="0"/>
              <a:t>02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7840560" y="2230203"/>
            <a:ext cx="4351439" cy="4644723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r>
              <a:rPr lang="ko-KR" altLang="en-US" dirty="0"/>
              <a:t>개선사항 </a:t>
            </a:r>
            <a:endParaRPr lang="en-US" altLang="ko-KR" dirty="0"/>
          </a:p>
          <a:p>
            <a:r>
              <a:rPr lang="ko-KR" altLang="en-US" dirty="0"/>
              <a:t>설계 변경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87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C88CC-75C6-B365-9710-D7BDFE0F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04BF86F-2CCD-88AB-D6C3-DE244E761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01.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F6038C-0984-C9F8-3C18-30C9DD9C00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최종 구현 상황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005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CE618-43D4-68B7-2707-D3F04080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C883A87-F01B-9BC3-591E-CE2D5E9A0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결과물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B488D8F-B553-1829-9245-3045920CA483}"/>
              </a:ext>
            </a:extLst>
          </p:cNvPr>
          <p:cNvGrpSpPr/>
          <p:nvPr/>
        </p:nvGrpSpPr>
        <p:grpSpPr>
          <a:xfrm>
            <a:off x="238126" y="1039851"/>
            <a:ext cx="11715748" cy="5178290"/>
            <a:chOff x="238126" y="1028700"/>
            <a:chExt cx="11715748" cy="517829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B370CFA-7A35-77CC-F4CD-66A3E8449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74" r="34329" b="1"/>
            <a:stretch>
              <a:fillRect/>
            </a:stretch>
          </p:blipFill>
          <p:spPr>
            <a:xfrm>
              <a:off x="238126" y="1028700"/>
              <a:ext cx="7693818" cy="51782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6FCE034-72F1-6B9F-DA28-3BC06412C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504" t="274" r="162" b="1"/>
            <a:stretch>
              <a:fillRect/>
            </a:stretch>
          </p:blipFill>
          <p:spPr>
            <a:xfrm>
              <a:off x="8048624" y="1028700"/>
              <a:ext cx="3905250" cy="51782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24343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AF36-C218-34ED-A4A2-D7AAE44B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3415CF-FC58-4A09-193A-A7645FB96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014485"/>
            <a:ext cx="11715750" cy="5192505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04FF9AB-826E-AB56-6942-419D0FF39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 </a:t>
            </a:r>
            <a:r>
              <a:rPr lang="en-US" altLang="ko-KR" dirty="0"/>
              <a:t>Layout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E062A1F0-3767-481A-D5AC-6B6BC309B909}"/>
              </a:ext>
            </a:extLst>
          </p:cNvPr>
          <p:cNvSpPr txBox="1">
            <a:spLocks/>
          </p:cNvSpPr>
          <p:nvPr/>
        </p:nvSpPr>
        <p:spPr>
          <a:xfrm>
            <a:off x="276327" y="899412"/>
            <a:ext cx="5474768" cy="3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C741B0DB-78EB-9E26-EA74-33AA1FCD9EC8}"/>
              </a:ext>
            </a:extLst>
          </p:cNvPr>
          <p:cNvSpPr txBox="1">
            <a:spLocks/>
          </p:cNvSpPr>
          <p:nvPr/>
        </p:nvSpPr>
        <p:spPr>
          <a:xfrm>
            <a:off x="384012" y="2460778"/>
            <a:ext cx="6164581" cy="715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3B070087-45A3-C4B7-DAC7-A0118F0F5047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10763380" cy="523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C85765E-C4D6-DA7B-0DE8-44C6E5EAB0C1}"/>
              </a:ext>
            </a:extLst>
          </p:cNvPr>
          <p:cNvSpPr/>
          <p:nvPr/>
        </p:nvSpPr>
        <p:spPr>
          <a:xfrm>
            <a:off x="7961666" y="993478"/>
            <a:ext cx="4010592" cy="2755154"/>
          </a:xfrm>
          <a:prstGeom prst="roundRect">
            <a:avLst>
              <a:gd name="adj" fmla="val 6821"/>
            </a:avLst>
          </a:prstGeom>
          <a:solidFill>
            <a:srgbClr val="FFFFFF">
              <a:alpha val="4000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5555FD"/>
                </a:solidFill>
              </a:rPr>
              <a:t>Image Processor Viewer</a:t>
            </a:r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C374EDA-C195-47EE-40A2-B52C5C2408CD}"/>
              </a:ext>
            </a:extLst>
          </p:cNvPr>
          <p:cNvSpPr/>
          <p:nvPr/>
        </p:nvSpPr>
        <p:spPr>
          <a:xfrm>
            <a:off x="242509" y="980570"/>
            <a:ext cx="7729915" cy="5226420"/>
          </a:xfrm>
          <a:prstGeom prst="roundRect">
            <a:avLst>
              <a:gd name="adj" fmla="val 2510"/>
            </a:avLst>
          </a:prstGeom>
          <a:solidFill>
            <a:srgbClr val="FFFFFF">
              <a:alpha val="5000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err="1">
                <a:solidFill>
                  <a:srgbClr val="5555FD"/>
                </a:solidFill>
              </a:rPr>
              <a:t>MainView</a:t>
            </a:r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en-US" altLang="ko-KR" sz="2400" b="1" dirty="0">
              <a:solidFill>
                <a:srgbClr val="5555FD"/>
              </a:solidFill>
            </a:endParaRPr>
          </a:p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52B6F1C-3C03-E40D-DB01-83518AFC763F}"/>
              </a:ext>
            </a:extLst>
          </p:cNvPr>
          <p:cNvSpPr/>
          <p:nvPr/>
        </p:nvSpPr>
        <p:spPr>
          <a:xfrm>
            <a:off x="4082384" y="1338097"/>
            <a:ext cx="3879282" cy="2432676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5555FD"/>
                </a:solidFill>
              </a:rPr>
              <a:t>Defect Image Viewer</a:t>
            </a:r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E408F0-B0B3-6644-94AE-A131F166AF18}"/>
              </a:ext>
            </a:extLst>
          </p:cNvPr>
          <p:cNvSpPr/>
          <p:nvPr/>
        </p:nvSpPr>
        <p:spPr>
          <a:xfrm>
            <a:off x="245108" y="1338097"/>
            <a:ext cx="3818893" cy="2432676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5555FD"/>
                </a:solidFill>
              </a:rPr>
              <a:t>Wafer Map Viewer</a:t>
            </a:r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FD7EAE1-5126-C810-4953-2A74B436528F}"/>
              </a:ext>
            </a:extLst>
          </p:cNvPr>
          <p:cNvSpPr/>
          <p:nvPr/>
        </p:nvSpPr>
        <p:spPr>
          <a:xfrm>
            <a:off x="245110" y="3801602"/>
            <a:ext cx="3818892" cy="2369601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5555FD"/>
                </a:solidFill>
              </a:rPr>
              <a:t>File List Viewer</a:t>
            </a:r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7C58D36-E329-C2E1-052A-55D00EDB59A4}"/>
              </a:ext>
            </a:extLst>
          </p:cNvPr>
          <p:cNvSpPr/>
          <p:nvPr/>
        </p:nvSpPr>
        <p:spPr>
          <a:xfrm>
            <a:off x="4082384" y="3804688"/>
            <a:ext cx="3890040" cy="2381756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5555FD"/>
                </a:solidFill>
              </a:rPr>
              <a:t>Defect Info Viewer</a:t>
            </a:r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77D37BA-72DA-A32E-B272-52B8B2973B69}"/>
              </a:ext>
            </a:extLst>
          </p:cNvPr>
          <p:cNvSpPr/>
          <p:nvPr/>
        </p:nvSpPr>
        <p:spPr>
          <a:xfrm>
            <a:off x="7980048" y="3769640"/>
            <a:ext cx="4005043" cy="2428118"/>
          </a:xfrm>
          <a:prstGeom prst="roundRect">
            <a:avLst>
              <a:gd name="adj" fmla="val 6821"/>
            </a:avLst>
          </a:prstGeom>
          <a:solidFill>
            <a:srgbClr val="FFFFFF">
              <a:alpha val="4000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5555FD"/>
                </a:solidFill>
              </a:rPr>
              <a:t>Histogram Viewer</a:t>
            </a:r>
            <a:endParaRPr lang="ko-KR" altLang="en-US" sz="2400" b="1" dirty="0">
              <a:solidFill>
                <a:srgbClr val="5555FD"/>
              </a:solidFill>
            </a:endParaRPr>
          </a:p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70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F3FF-1D9C-4DB7-ADD3-3B0295A3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8F14CA-5780-5445-93BB-43F483A373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기능 구현 </a:t>
            </a:r>
            <a:r>
              <a:rPr lang="en-US" altLang="ko-KR" dirty="0"/>
              <a:t>– Die </a:t>
            </a:r>
            <a:r>
              <a:rPr lang="ko-KR" altLang="en-US" dirty="0"/>
              <a:t>간</a:t>
            </a:r>
            <a:r>
              <a:rPr lang="en-US" altLang="ko-KR" dirty="0"/>
              <a:t> </a:t>
            </a:r>
            <a:r>
              <a:rPr lang="ko-KR" altLang="en-US" dirty="0"/>
              <a:t>이동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2F1043-255B-71B4-6539-0F909CAB711B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3199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Defect </a:t>
            </a:r>
            <a:r>
              <a:rPr lang="ko-KR" altLang="en-US" dirty="0"/>
              <a:t>간 이동</a:t>
            </a:r>
            <a:r>
              <a:rPr lang="en-US" altLang="ko-KR" dirty="0"/>
              <a:t>/ Die</a:t>
            </a:r>
            <a:r>
              <a:rPr lang="ko-KR" altLang="en-US" dirty="0"/>
              <a:t> 내 </a:t>
            </a:r>
            <a:r>
              <a:rPr lang="en-US" altLang="ko-KR" dirty="0"/>
              <a:t>Defect</a:t>
            </a:r>
            <a:r>
              <a:rPr lang="ko-KR" altLang="en-US" dirty="0"/>
              <a:t> 이동</a:t>
            </a:r>
            <a:endParaRPr lang="en-US" altLang="ko-KR" dirty="0"/>
          </a:p>
          <a:p>
            <a:r>
              <a:rPr lang="en-US" altLang="ko-KR" dirty="0"/>
              <a:t>          Defect ID </a:t>
            </a:r>
            <a:r>
              <a:rPr lang="ko-KR" altLang="en-US" dirty="0"/>
              <a:t>기반 </a:t>
            </a:r>
            <a:r>
              <a:rPr lang="en-US" altLang="ko-KR" dirty="0"/>
              <a:t>Shift        Normal Die </a:t>
            </a:r>
            <a:r>
              <a:rPr lang="ko-KR" altLang="en-US" dirty="0"/>
              <a:t>고려</a:t>
            </a:r>
            <a:r>
              <a:rPr lang="en-US" altLang="ko-KR" dirty="0"/>
              <a:t> X 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Die </a:t>
            </a:r>
            <a:r>
              <a:rPr lang="ko-KR" altLang="en-US" dirty="0"/>
              <a:t>간 이동</a:t>
            </a:r>
            <a:r>
              <a:rPr lang="en-US" altLang="ko-KR" dirty="0"/>
              <a:t> - LINQ </a:t>
            </a:r>
            <a:r>
              <a:rPr lang="ko-KR" altLang="en-US" dirty="0"/>
              <a:t>를 활용한 </a:t>
            </a:r>
            <a:r>
              <a:rPr lang="en-US" altLang="ko-KR" dirty="0"/>
              <a:t>Die Shift  </a:t>
            </a:r>
            <a:r>
              <a:rPr lang="ko-KR" altLang="en-US" dirty="0"/>
              <a:t>구현</a:t>
            </a:r>
            <a:endParaRPr lang="en-US" altLang="ko-KR" dirty="0"/>
          </a:p>
          <a:p>
            <a:r>
              <a:rPr lang="en-US" altLang="ko-KR" dirty="0"/>
              <a:t>          Defect ID        (x, y) Index         Die ID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방향키 컨트롤</a:t>
            </a:r>
            <a:endParaRPr lang="en-US" altLang="ko-KR" dirty="0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F41F64A1-703E-8D18-4D76-A9677C735A61}"/>
              </a:ext>
            </a:extLst>
          </p:cNvPr>
          <p:cNvSpPr/>
          <p:nvPr/>
        </p:nvSpPr>
        <p:spPr>
          <a:xfrm>
            <a:off x="3160144" y="1487546"/>
            <a:ext cx="256478" cy="143827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D4EC119-1D02-D80B-2A78-0758850EC506}"/>
              </a:ext>
            </a:extLst>
          </p:cNvPr>
          <p:cNvGrpSpPr/>
          <p:nvPr/>
        </p:nvGrpSpPr>
        <p:grpSpPr>
          <a:xfrm>
            <a:off x="6728653" y="842884"/>
            <a:ext cx="5187020" cy="5713985"/>
            <a:chOff x="6594947" y="979028"/>
            <a:chExt cx="5187020" cy="571398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EB22E9B-680B-A8FD-3EA2-DEA854D16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31000"/>
                      </a14:imgEffect>
                    </a14:imgLayer>
                  </a14:imgProps>
                </a:ext>
              </a:extLst>
            </a:blip>
            <a:srcRect l="50112" t="5727" r="169"/>
            <a:stretch>
              <a:fillRect/>
            </a:stretch>
          </p:blipFill>
          <p:spPr>
            <a:xfrm>
              <a:off x="7237142" y="979028"/>
              <a:ext cx="4544825" cy="57139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5D776A3-2C91-B6C5-97C8-9C81779AF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112" t="56052" r="169" b="27022"/>
            <a:stretch>
              <a:fillRect/>
            </a:stretch>
          </p:blipFill>
          <p:spPr>
            <a:xfrm>
              <a:off x="6594947" y="4047894"/>
              <a:ext cx="5187020" cy="117087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4EC33288-4B99-18E2-56BE-5245DE21E04C}"/>
                </a:ext>
              </a:extLst>
            </p:cNvPr>
            <p:cNvSpPr/>
            <p:nvPr/>
          </p:nvSpPr>
          <p:spPr>
            <a:xfrm>
              <a:off x="6594947" y="4047895"/>
              <a:ext cx="5187020" cy="1170876"/>
            </a:xfrm>
            <a:prstGeom prst="roundRect">
              <a:avLst>
                <a:gd name="adj" fmla="val 41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6C0C3599-D965-FB54-4BC0-A124B3400F6F}"/>
              </a:ext>
            </a:extLst>
          </p:cNvPr>
          <p:cNvSpPr/>
          <p:nvPr/>
        </p:nvSpPr>
        <p:spPr>
          <a:xfrm>
            <a:off x="2178594" y="2858179"/>
            <a:ext cx="256478" cy="143827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237B96B-B467-CF40-293A-CCA1B5BF1796}"/>
              </a:ext>
            </a:extLst>
          </p:cNvPr>
          <p:cNvSpPr/>
          <p:nvPr/>
        </p:nvSpPr>
        <p:spPr>
          <a:xfrm>
            <a:off x="3870859" y="2858179"/>
            <a:ext cx="256478" cy="143827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8B6E010-720F-2665-1916-6E5D7F5EC17A}"/>
              </a:ext>
            </a:extLst>
          </p:cNvPr>
          <p:cNvGrpSpPr/>
          <p:nvPr/>
        </p:nvGrpSpPr>
        <p:grpSpPr>
          <a:xfrm>
            <a:off x="287710" y="3927971"/>
            <a:ext cx="6325484" cy="1743318"/>
            <a:chOff x="253879" y="4472782"/>
            <a:chExt cx="6325484" cy="1743318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6E83E54-CB4B-3D2A-0A58-76A91562B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880" y="4472782"/>
              <a:ext cx="6325483" cy="1743318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5E982DDB-6A70-CFE2-1132-61AEAE5CE391}"/>
                </a:ext>
              </a:extLst>
            </p:cNvPr>
            <p:cNvSpPr/>
            <p:nvPr/>
          </p:nvSpPr>
          <p:spPr>
            <a:xfrm>
              <a:off x="253879" y="4472782"/>
              <a:ext cx="6325483" cy="1743318"/>
            </a:xfrm>
            <a:prstGeom prst="roundRect">
              <a:avLst>
                <a:gd name="adj" fmla="val 41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127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7CFC-7C4C-6643-E63C-C880771F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D96360E-A851-519B-E6E7-93B8A39F9B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기능 구현 </a:t>
            </a:r>
            <a:r>
              <a:rPr lang="en-US" altLang="ko-KR" dirty="0"/>
              <a:t>– Wafer Map Render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F0D03-BF23-8AE8-69B4-8ECE234B7DF1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3422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Grid Size Interact </a:t>
            </a:r>
            <a:r>
              <a:rPr lang="ko-KR" altLang="en-US" dirty="0"/>
              <a:t>로 동적 렌더링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반응형 </a:t>
            </a:r>
            <a:r>
              <a:rPr lang="en-US" altLang="ko-KR" dirty="0"/>
              <a:t>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Defective Die </a:t>
            </a:r>
            <a:r>
              <a:rPr lang="ko-KR" altLang="en-US" dirty="0"/>
              <a:t>선택 기능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상대 좌표 변환</a:t>
            </a:r>
            <a:r>
              <a:rPr lang="en-US" altLang="ko-K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73206A-98C5-C6EB-C97A-C7DFB971A6A5}"/>
              </a:ext>
            </a:extLst>
          </p:cNvPr>
          <p:cNvGrpSpPr/>
          <p:nvPr/>
        </p:nvGrpSpPr>
        <p:grpSpPr>
          <a:xfrm>
            <a:off x="4170104" y="2242934"/>
            <a:ext cx="7969294" cy="2768195"/>
            <a:chOff x="2692658" y="2470026"/>
            <a:chExt cx="7969294" cy="2768195"/>
          </a:xfrm>
        </p:grpSpPr>
        <p:sp>
          <p:nvSpPr>
            <p:cNvPr id="15" name="화살표: 왼쪽/오른쪽 14">
              <a:extLst>
                <a:ext uri="{FF2B5EF4-FFF2-40B4-BE49-F238E27FC236}">
                  <a16:creationId xmlns:a16="http://schemas.microsoft.com/office/drawing/2014/main" id="{840C3B2C-5C2C-4A0E-2FBE-B5C7CEFA3D1D}"/>
                </a:ext>
              </a:extLst>
            </p:cNvPr>
            <p:cNvSpPr/>
            <p:nvPr/>
          </p:nvSpPr>
          <p:spPr>
            <a:xfrm>
              <a:off x="5462413" y="3671867"/>
              <a:ext cx="570873" cy="328304"/>
            </a:xfrm>
            <a:prstGeom prst="left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67CAE1D-8A28-08C4-5997-2C748DE29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2658" y="2470026"/>
              <a:ext cx="2557571" cy="276819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70FC97B-5EB6-B839-E538-D45AEA24C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381" r="33469" b="30599"/>
            <a:stretch>
              <a:fillRect/>
            </a:stretch>
          </p:blipFill>
          <p:spPr>
            <a:xfrm>
              <a:off x="6280238" y="2470026"/>
              <a:ext cx="4381714" cy="276819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A3A251F0-6D6B-FAD9-1EEC-92CB2FC2B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297" y="5146972"/>
            <a:ext cx="6077798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7B7783B-52BC-15B2-F3B8-3C39E4ED627B}"/>
              </a:ext>
            </a:extLst>
          </p:cNvPr>
          <p:cNvSpPr/>
          <p:nvPr/>
        </p:nvSpPr>
        <p:spPr>
          <a:xfrm>
            <a:off x="4170103" y="2206723"/>
            <a:ext cx="2557572" cy="2804403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E0712EC-F864-27F6-E593-51452DBC874A}"/>
              </a:ext>
            </a:extLst>
          </p:cNvPr>
          <p:cNvSpPr/>
          <p:nvPr/>
        </p:nvSpPr>
        <p:spPr>
          <a:xfrm>
            <a:off x="7757685" y="2242935"/>
            <a:ext cx="4381714" cy="2768191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9A441F7-1E74-B72E-B6ED-5D4EE1FDD762}"/>
              </a:ext>
            </a:extLst>
          </p:cNvPr>
          <p:cNvSpPr/>
          <p:nvPr/>
        </p:nvSpPr>
        <p:spPr>
          <a:xfrm>
            <a:off x="6039297" y="5146972"/>
            <a:ext cx="6077798" cy="1409897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B8848A7-E78C-D97F-D60B-8A6BA92841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26" t="5817" r="1422" b="66719"/>
          <a:stretch>
            <a:fillRect/>
          </a:stretch>
        </p:blipFill>
        <p:spPr>
          <a:xfrm>
            <a:off x="3927697" y="1335767"/>
            <a:ext cx="4304372" cy="70381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D4BCC5C-2AC6-2BB4-7CFB-980C06BA1A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495" t="38779" r="14336" b="36433"/>
          <a:stretch>
            <a:fillRect/>
          </a:stretch>
        </p:blipFill>
        <p:spPr>
          <a:xfrm>
            <a:off x="8609743" y="1318254"/>
            <a:ext cx="3474719" cy="720264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99CCBF65-A728-B686-323D-E19CDB853C5A}"/>
              </a:ext>
            </a:extLst>
          </p:cNvPr>
          <p:cNvGrpSpPr/>
          <p:nvPr/>
        </p:nvGrpSpPr>
        <p:grpSpPr>
          <a:xfrm>
            <a:off x="549069" y="3475246"/>
            <a:ext cx="2406004" cy="1384518"/>
            <a:chOff x="189509" y="3210426"/>
            <a:chExt cx="2792055" cy="1734139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BF11C70-0FD5-6406-E814-AA76370BE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36153"/>
            <a:stretch>
              <a:fillRect/>
            </a:stretch>
          </p:blipFill>
          <p:spPr>
            <a:xfrm>
              <a:off x="189509" y="3210426"/>
              <a:ext cx="2792055" cy="927542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A9ED1D39-D480-4490-BF5E-6BA16F1B8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624" t="62196"/>
            <a:stretch>
              <a:fillRect/>
            </a:stretch>
          </p:blipFill>
          <p:spPr>
            <a:xfrm>
              <a:off x="234114" y="4449412"/>
              <a:ext cx="2174347" cy="495153"/>
            </a:xfrm>
            <a:prstGeom prst="rect">
              <a:avLst/>
            </a:prstGeom>
          </p:spPr>
        </p:pic>
      </p:grp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6A770434-3246-3EE1-A2A1-D222B0E4166D}"/>
              </a:ext>
            </a:extLst>
          </p:cNvPr>
          <p:cNvSpPr txBox="1">
            <a:spLocks/>
          </p:cNvSpPr>
          <p:nvPr/>
        </p:nvSpPr>
        <p:spPr>
          <a:xfrm>
            <a:off x="3564724" y="1912401"/>
            <a:ext cx="1888222" cy="455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(x1, y1)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(0, 0) 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D765017-B93E-08C9-CA10-00214BAD780B}"/>
              </a:ext>
            </a:extLst>
          </p:cNvPr>
          <p:cNvCxnSpPr>
            <a:cxnSpLocks/>
          </p:cNvCxnSpPr>
          <p:nvPr/>
        </p:nvCxnSpPr>
        <p:spPr>
          <a:xfrm>
            <a:off x="4220685" y="2242934"/>
            <a:ext cx="2339198" cy="2575486"/>
          </a:xfrm>
          <a:prstGeom prst="straightConnector1">
            <a:avLst/>
          </a:prstGeom>
          <a:ln w="31750">
            <a:solidFill>
              <a:srgbClr val="5555FD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916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41-FF66-AD68-CF15-87DFC86A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2366D4E-20D8-D2A2-F756-445E494D60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기능 구현 </a:t>
            </a:r>
            <a:r>
              <a:rPr lang="en-US" altLang="ko-KR" dirty="0"/>
              <a:t>– VM </a:t>
            </a:r>
            <a:r>
              <a:rPr lang="ko-KR" altLang="en-US" dirty="0"/>
              <a:t>간 자료 동기화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24B423-BB8C-4B6B-9CCF-0FE26E448DB6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1961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Map Click – Navigator – List Click </a:t>
            </a:r>
            <a:r>
              <a:rPr lang="ko-KR" altLang="en-US" dirty="0"/>
              <a:t>동기화 </a:t>
            </a:r>
            <a:endParaRPr lang="en-US" altLang="ko-KR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304B366-7203-8A4B-65B4-5B66B5326DA0}"/>
              </a:ext>
            </a:extLst>
          </p:cNvPr>
          <p:cNvGrpSpPr/>
          <p:nvPr/>
        </p:nvGrpSpPr>
        <p:grpSpPr>
          <a:xfrm>
            <a:off x="1945260" y="1407598"/>
            <a:ext cx="8301479" cy="5111171"/>
            <a:chOff x="3021713" y="1445698"/>
            <a:chExt cx="8652759" cy="541230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DB0A31B-6E97-981E-978E-E976A99FC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44000"/>
                      </a14:imgEffect>
                      <a14:imgEffect>
                        <a14:brightnessContrast bright="-25000"/>
                      </a14:imgEffect>
                    </a14:imgLayer>
                  </a14:imgProps>
                </a:ext>
              </a:extLst>
            </a:blip>
            <a:srcRect l="-1" t="378" r="-27" b="-185"/>
            <a:stretch>
              <a:fillRect/>
            </a:stretch>
          </p:blipFill>
          <p:spPr>
            <a:xfrm>
              <a:off x="3021713" y="1445698"/>
              <a:ext cx="8652759" cy="541230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BDFF680-0047-5707-7868-DEC88BDE2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909" t="56379" r="227" b="27396"/>
            <a:stretch>
              <a:fillRect/>
            </a:stretch>
          </p:blipFill>
          <p:spPr>
            <a:xfrm>
              <a:off x="8926144" y="4487823"/>
              <a:ext cx="2743941" cy="90433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A3B3335-F26F-FB3C-4D90-230230361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78" r="47954" b="47325"/>
            <a:stretch>
              <a:fillRect/>
            </a:stretch>
          </p:blipFill>
          <p:spPr>
            <a:xfrm>
              <a:off x="3021713" y="1445698"/>
              <a:ext cx="4460755" cy="280988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F2AA146-CA82-98D4-CE2F-17ED3676B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2852" t="73813" r="1907" b="2683"/>
            <a:stretch>
              <a:fillRect/>
            </a:stretch>
          </p:blipFill>
          <p:spPr>
            <a:xfrm>
              <a:off x="7599254" y="5392157"/>
              <a:ext cx="4070831" cy="13258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4EA7B827-330E-96ED-8366-8ED9257F9825}"/>
                </a:ext>
              </a:extLst>
            </p:cNvPr>
            <p:cNvSpPr/>
            <p:nvPr/>
          </p:nvSpPr>
          <p:spPr>
            <a:xfrm>
              <a:off x="3021713" y="1445698"/>
              <a:ext cx="4460755" cy="2809888"/>
            </a:xfrm>
            <a:prstGeom prst="roundRect">
              <a:avLst>
                <a:gd name="adj" fmla="val 41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AC6B27A-0F4C-F026-3804-EAAB0132BF19}"/>
                </a:ext>
              </a:extLst>
            </p:cNvPr>
            <p:cNvSpPr/>
            <p:nvPr/>
          </p:nvSpPr>
          <p:spPr>
            <a:xfrm>
              <a:off x="7599254" y="5392157"/>
              <a:ext cx="4070831" cy="1362106"/>
            </a:xfrm>
            <a:prstGeom prst="roundRect">
              <a:avLst>
                <a:gd name="adj" fmla="val 41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4C140BC6-D6A0-203B-2530-4E36349304B1}"/>
                </a:ext>
              </a:extLst>
            </p:cNvPr>
            <p:cNvSpPr/>
            <p:nvPr/>
          </p:nvSpPr>
          <p:spPr>
            <a:xfrm>
              <a:off x="8926144" y="4487821"/>
              <a:ext cx="2743941" cy="904335"/>
            </a:xfrm>
            <a:prstGeom prst="roundRect">
              <a:avLst>
                <a:gd name="adj" fmla="val 41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D166892-383C-5AD0-7933-348BBBF28577}"/>
                </a:ext>
              </a:extLst>
            </p:cNvPr>
            <p:cNvSpPr/>
            <p:nvPr/>
          </p:nvSpPr>
          <p:spPr>
            <a:xfrm>
              <a:off x="7022949" y="3467682"/>
              <a:ext cx="215935" cy="48413"/>
            </a:xfrm>
            <a:prstGeom prst="roundRect">
              <a:avLst>
                <a:gd name="adj" fmla="val 41"/>
              </a:avLst>
            </a:prstGeom>
            <a:solidFill>
              <a:srgbClr val="FFFFFF">
                <a:alpha val="0"/>
              </a:srgbClr>
            </a:solidFill>
            <a:ln w="1270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206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A0FB-F583-662C-FAA0-001411AA6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0A9D51-846D-412D-B479-86ABD0BB44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기능 구현 </a:t>
            </a:r>
            <a:r>
              <a:rPr lang="en-US" altLang="ko-KR" dirty="0"/>
              <a:t>– </a:t>
            </a:r>
            <a:r>
              <a:rPr lang="en-US" altLang="ko-KR" dirty="0" err="1"/>
              <a:t>Refesh</a:t>
            </a:r>
            <a:r>
              <a:rPr lang="en-US" altLang="ko-KR" dirty="0"/>
              <a:t> Button </a:t>
            </a:r>
            <a:r>
              <a:rPr lang="ko-KR" altLang="en-US" dirty="0"/>
              <a:t>수정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43DEB-DA4C-986E-821B-FF59C3DEC538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1961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Refresh </a:t>
            </a:r>
            <a:r>
              <a:rPr lang="ko-KR" altLang="en-US" dirty="0"/>
              <a:t>클릭 시 경로로 부터 파일</a:t>
            </a:r>
            <a:r>
              <a:rPr lang="en-US" altLang="ko-KR" dirty="0"/>
              <a:t>/</a:t>
            </a:r>
            <a:r>
              <a:rPr lang="ko-KR" altLang="en-US" dirty="0"/>
              <a:t>폴더 </a:t>
            </a:r>
            <a:r>
              <a:rPr lang="ko-KR" altLang="en-US" dirty="0" err="1"/>
              <a:t>재업로드</a:t>
            </a:r>
            <a:endParaRPr lang="en-US" altLang="ko-KR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A6EEF4E-1ED8-8544-CC0E-F3D9AB67629B}"/>
              </a:ext>
            </a:extLst>
          </p:cNvPr>
          <p:cNvGrpSpPr/>
          <p:nvPr/>
        </p:nvGrpSpPr>
        <p:grpSpPr>
          <a:xfrm>
            <a:off x="7309333" y="1952990"/>
            <a:ext cx="3686526" cy="4150340"/>
            <a:chOff x="7576962" y="1803222"/>
            <a:chExt cx="3686526" cy="415034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3084C70-A3BD-24B9-2F2C-EFF225C80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6962" y="1803222"/>
              <a:ext cx="3686526" cy="41503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C565924-081B-DAEC-6EFF-26442D5D16A8}"/>
                </a:ext>
              </a:extLst>
            </p:cNvPr>
            <p:cNvSpPr/>
            <p:nvPr/>
          </p:nvSpPr>
          <p:spPr>
            <a:xfrm>
              <a:off x="9054790" y="2264702"/>
              <a:ext cx="2099157" cy="1919576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A2B23AC-952B-B886-B758-7FDDD9868FF7}"/>
              </a:ext>
            </a:extLst>
          </p:cNvPr>
          <p:cNvGrpSpPr/>
          <p:nvPr/>
        </p:nvGrpSpPr>
        <p:grpSpPr>
          <a:xfrm>
            <a:off x="432394" y="1803222"/>
            <a:ext cx="5433706" cy="4563305"/>
            <a:chOff x="432394" y="1803222"/>
            <a:chExt cx="5433706" cy="45633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03824E0-32C9-F648-3E24-F900A85C3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8701"/>
            <a:stretch>
              <a:fillRect/>
            </a:stretch>
          </p:blipFill>
          <p:spPr>
            <a:xfrm>
              <a:off x="432394" y="1803222"/>
              <a:ext cx="5410846" cy="222493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B7D8A1D-14E3-74EA-4336-AA8157C4A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2394" y="4364401"/>
              <a:ext cx="5410846" cy="200212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C670AD05-B80E-CE9D-55EE-7B19271B33B0}"/>
                </a:ext>
              </a:extLst>
            </p:cNvPr>
            <p:cNvSpPr/>
            <p:nvPr/>
          </p:nvSpPr>
          <p:spPr>
            <a:xfrm>
              <a:off x="2264934" y="3657600"/>
              <a:ext cx="3601166" cy="200723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283A6B-378C-EAE0-B558-34F23C7F00BB}"/>
                </a:ext>
              </a:extLst>
            </p:cNvPr>
            <p:cNvSpPr/>
            <p:nvPr/>
          </p:nvSpPr>
          <p:spPr>
            <a:xfrm>
              <a:off x="2264934" y="2616820"/>
              <a:ext cx="3601166" cy="200723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5A98AB10-64A6-B376-008E-548A3947588E}"/>
                </a:ext>
              </a:extLst>
            </p:cNvPr>
            <p:cNvSpPr/>
            <p:nvPr/>
          </p:nvSpPr>
          <p:spPr>
            <a:xfrm>
              <a:off x="2242074" y="5058936"/>
              <a:ext cx="3601166" cy="1129991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331ACEB-E4DD-1706-7300-703CE672DD0F}"/>
                </a:ext>
              </a:extLst>
            </p:cNvPr>
            <p:cNvGrpSpPr/>
            <p:nvPr/>
          </p:nvGrpSpPr>
          <p:grpSpPr>
            <a:xfrm>
              <a:off x="2575931" y="4409383"/>
              <a:ext cx="1731518" cy="410826"/>
              <a:chOff x="2525131" y="4385690"/>
              <a:chExt cx="1731518" cy="410826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12A6F8AF-4CD4-9C56-0C89-8AFAC06E1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39713" t="9649" r="40737" b="77950"/>
              <a:stretch>
                <a:fillRect/>
              </a:stretch>
            </p:blipFill>
            <p:spPr>
              <a:xfrm>
                <a:off x="2525131" y="4390089"/>
                <a:ext cx="1731518" cy="406427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6A8C1E80-2969-ED04-9C0F-008FFC881F4B}"/>
                  </a:ext>
                </a:extLst>
              </p:cNvPr>
              <p:cNvSpPr/>
              <p:nvPr/>
            </p:nvSpPr>
            <p:spPr>
              <a:xfrm>
                <a:off x="2525131" y="4385690"/>
                <a:ext cx="1731518" cy="406426"/>
              </a:xfrm>
              <a:prstGeom prst="roundRect">
                <a:avLst>
                  <a:gd name="adj" fmla="val 2510"/>
                </a:avLst>
              </a:prstGeom>
              <a:solidFill>
                <a:srgbClr val="FFFFFF">
                  <a:alpha val="0"/>
                </a:srgbClr>
              </a:solidFill>
              <a:ln w="57150">
                <a:solidFill>
                  <a:srgbClr val="5555F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srgbClr val="5555FD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2453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B290-5FA6-8728-82A5-4E2A8623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C345121A-74D2-8B3F-2998-0D125D505751}"/>
              </a:ext>
            </a:extLst>
          </p:cNvPr>
          <p:cNvSpPr txBox="1">
            <a:spLocks/>
          </p:cNvSpPr>
          <p:nvPr/>
        </p:nvSpPr>
        <p:spPr>
          <a:xfrm>
            <a:off x="276327" y="1035361"/>
            <a:ext cx="9143898" cy="564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Image Processing( </a:t>
            </a:r>
            <a:r>
              <a:rPr lang="ko-KR" altLang="en-US" dirty="0"/>
              <a:t>밝기</a:t>
            </a:r>
            <a:r>
              <a:rPr lang="en-US" altLang="ko-KR" dirty="0"/>
              <a:t>/</a:t>
            </a:r>
            <a:r>
              <a:rPr lang="ko-KR" altLang="en-US" dirty="0"/>
              <a:t>대비</a:t>
            </a:r>
            <a:r>
              <a:rPr lang="en-US" altLang="ko-KR" dirty="0"/>
              <a:t>/</a:t>
            </a:r>
            <a:r>
              <a:rPr lang="ko-KR" altLang="en-US" dirty="0" err="1"/>
              <a:t>가우시안블러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Histogram analysis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요약 통계량</a:t>
            </a:r>
            <a:r>
              <a:rPr lang="en-US" altLang="ko-KR" dirty="0"/>
              <a:t>-Grey Scale</a:t>
            </a:r>
          </a:p>
          <a:p>
            <a:r>
              <a:rPr lang="en-US" altLang="ko-KR" dirty="0"/>
              <a:t>	RGB </a:t>
            </a:r>
            <a:r>
              <a:rPr lang="ko-KR" altLang="en-US" dirty="0"/>
              <a:t>분포 제공</a:t>
            </a:r>
            <a:endParaRPr lang="en-US" altLang="ko-KR" dirty="0"/>
          </a:p>
        </p:txBody>
      </p:sp>
      <p:pic>
        <p:nvPicPr>
          <p:cNvPr id="12" name="그림 11" descr="스크린샷, 도표, 다채로움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1A564F-BC3F-56BD-0D0B-3C0BB66A1B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5" t="13018" r="54107" b="11307"/>
          <a:stretch>
            <a:fillRect/>
          </a:stretch>
        </p:blipFill>
        <p:spPr>
          <a:xfrm>
            <a:off x="386546" y="2457169"/>
            <a:ext cx="2920534" cy="2505938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33BCE3E-1FAD-4080-467B-F392F8724C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기능 구현 </a:t>
            </a:r>
            <a:r>
              <a:rPr lang="en-US" altLang="ko-KR" dirty="0"/>
              <a:t>Defect Image </a:t>
            </a:r>
            <a:r>
              <a:rPr lang="ko-KR" altLang="en-US" dirty="0"/>
              <a:t>편집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893D7E9-8044-1EF3-6A31-199466D61DD9}"/>
              </a:ext>
            </a:extLst>
          </p:cNvPr>
          <p:cNvGrpSpPr/>
          <p:nvPr/>
        </p:nvGrpSpPr>
        <p:grpSpPr>
          <a:xfrm>
            <a:off x="6523414" y="732002"/>
            <a:ext cx="5114841" cy="2825986"/>
            <a:chOff x="2360789" y="1022760"/>
            <a:chExt cx="5130081" cy="2825986"/>
          </a:xfrm>
        </p:grpSpPr>
        <p:pic>
          <p:nvPicPr>
            <p:cNvPr id="13" name="그림 12" descr="스크린샷, 멀티미디어 소프트웨어, 텍스트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BFA2192-6B39-A305-06F9-F82669B8E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60"/>
            <a:stretch>
              <a:fillRect/>
            </a:stretch>
          </p:blipFill>
          <p:spPr>
            <a:xfrm>
              <a:off x="2376029" y="1022760"/>
              <a:ext cx="5114841" cy="282598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062147F-97C8-50FF-4B92-9BE59E822D87}"/>
                </a:ext>
              </a:extLst>
            </p:cNvPr>
            <p:cNvSpPr/>
            <p:nvPr/>
          </p:nvSpPr>
          <p:spPr>
            <a:xfrm>
              <a:off x="2360789" y="1022760"/>
              <a:ext cx="5114842" cy="2825986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931C21B-769E-C1C3-DD55-A33D85607B43}"/>
              </a:ext>
            </a:extLst>
          </p:cNvPr>
          <p:cNvGrpSpPr/>
          <p:nvPr/>
        </p:nvGrpSpPr>
        <p:grpSpPr>
          <a:xfrm>
            <a:off x="6523414" y="3730179"/>
            <a:ext cx="5114841" cy="2825987"/>
            <a:chOff x="6133386" y="3402065"/>
            <a:chExt cx="5158629" cy="315480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203BB6C-E443-64B3-BBE5-E3B3891EE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118"/>
            <a:stretch>
              <a:fillRect/>
            </a:stretch>
          </p:blipFill>
          <p:spPr>
            <a:xfrm>
              <a:off x="6133386" y="3402065"/>
              <a:ext cx="5158629" cy="315480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8FAA60D-DE18-8940-A0F7-2BB231CA4962}"/>
                </a:ext>
              </a:extLst>
            </p:cNvPr>
            <p:cNvSpPr/>
            <p:nvPr/>
          </p:nvSpPr>
          <p:spPr>
            <a:xfrm>
              <a:off x="6133386" y="3402065"/>
              <a:ext cx="5158629" cy="3154804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CD6E6A-68D6-1AA4-CA3E-EA5004BE3C01}"/>
              </a:ext>
            </a:extLst>
          </p:cNvPr>
          <p:cNvGrpSpPr/>
          <p:nvPr/>
        </p:nvGrpSpPr>
        <p:grpSpPr>
          <a:xfrm>
            <a:off x="386546" y="1428568"/>
            <a:ext cx="3918837" cy="916678"/>
            <a:chOff x="0" y="1864754"/>
            <a:chExt cx="7049111" cy="175502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0430F2D-3E2F-FAD2-A2E8-0956EDD0D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52292"/>
            <a:stretch>
              <a:fillRect/>
            </a:stretch>
          </p:blipFill>
          <p:spPr>
            <a:xfrm>
              <a:off x="0" y="2521812"/>
              <a:ext cx="7049111" cy="109796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29A21FC-4DC6-0342-4983-60973DAED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rcRect l="20330" t="59504" r="21432" b="12525"/>
            <a:stretch>
              <a:fillRect/>
            </a:stretch>
          </p:blipFill>
          <p:spPr>
            <a:xfrm>
              <a:off x="27412" y="1864754"/>
              <a:ext cx="4105257" cy="6437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91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7774-DF88-82DB-CFDE-C2F41365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02CCEE72-F014-A40D-33F0-E4FAFFB74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74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8692" y="1060555"/>
            <a:ext cx="8333416" cy="5531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E3CE297-6D02-305E-D9D6-DC2446B5B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기타 기능 사항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5E975244-46E6-A215-A29B-A85FB38889B7}"/>
              </a:ext>
            </a:extLst>
          </p:cNvPr>
          <p:cNvSpPr txBox="1">
            <a:spLocks/>
          </p:cNvSpPr>
          <p:nvPr/>
        </p:nvSpPr>
        <p:spPr>
          <a:xfrm>
            <a:off x="276327" y="899412"/>
            <a:ext cx="5474768" cy="3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EC49409-2210-E1E2-D0E8-C1AA05BA4D95}"/>
              </a:ext>
            </a:extLst>
          </p:cNvPr>
          <p:cNvSpPr txBox="1">
            <a:spLocks/>
          </p:cNvSpPr>
          <p:nvPr/>
        </p:nvSpPr>
        <p:spPr>
          <a:xfrm>
            <a:off x="384012" y="2460778"/>
            <a:ext cx="6164581" cy="715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0BEE5239-B861-78CE-F23E-59BB761D1B7E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1584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편집 이미지 저장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3021F0B-E8FE-610B-079D-59CC5477ABF1}"/>
              </a:ext>
            </a:extLst>
          </p:cNvPr>
          <p:cNvGrpSpPr/>
          <p:nvPr/>
        </p:nvGrpSpPr>
        <p:grpSpPr>
          <a:xfrm>
            <a:off x="2932423" y="4098789"/>
            <a:ext cx="1289058" cy="477588"/>
            <a:chOff x="4259183" y="3010673"/>
            <a:chExt cx="3383323" cy="1034365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9FEDC299-805E-C852-D848-041F3C932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081" t="57052" r="80090" b="38421"/>
            <a:stretch>
              <a:fillRect/>
            </a:stretch>
          </p:blipFill>
          <p:spPr>
            <a:xfrm>
              <a:off x="4259183" y="3010673"/>
              <a:ext cx="3383323" cy="1034364"/>
            </a:xfrm>
            <a:prstGeom prst="rect">
              <a:avLst/>
            </a:prstGeom>
          </p:spPr>
        </p:pic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14208678-D037-8AB7-B988-A20D41E19FC5}"/>
                </a:ext>
              </a:extLst>
            </p:cNvPr>
            <p:cNvSpPr/>
            <p:nvPr/>
          </p:nvSpPr>
          <p:spPr>
            <a:xfrm>
              <a:off x="4259183" y="3010674"/>
              <a:ext cx="3383322" cy="1034364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61FD5B8-4203-C900-9637-E9371E1C6494}"/>
              </a:ext>
            </a:extLst>
          </p:cNvPr>
          <p:cNvGrpSpPr/>
          <p:nvPr/>
        </p:nvGrpSpPr>
        <p:grpSpPr>
          <a:xfrm>
            <a:off x="3207966" y="804078"/>
            <a:ext cx="3490183" cy="2491103"/>
            <a:chOff x="2486275" y="1096991"/>
            <a:chExt cx="3028821" cy="194025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3172130-7817-4982-2B96-F2CBD8A54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86275" y="1096991"/>
              <a:ext cx="3028821" cy="194025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4062CBAA-3D3C-1D50-7BBC-0B9F1DE5AA60}"/>
                </a:ext>
              </a:extLst>
            </p:cNvPr>
            <p:cNvSpPr/>
            <p:nvPr/>
          </p:nvSpPr>
          <p:spPr>
            <a:xfrm>
              <a:off x="2486275" y="1096991"/>
              <a:ext cx="3028820" cy="1940259"/>
            </a:xfrm>
            <a:prstGeom prst="roundRect">
              <a:avLst>
                <a:gd name="adj" fmla="val 2510"/>
              </a:avLst>
            </a:prstGeom>
            <a:solidFill>
              <a:srgbClr val="FFFFFF">
                <a:alpha val="0"/>
              </a:srgbClr>
            </a:solidFill>
            <a:ln w="57150">
              <a:solidFill>
                <a:srgbClr val="5555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rgbClr val="5555FD"/>
                </a:solidFill>
              </a:endParaRP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875FD9EE-8E67-87C3-24D8-3CA47771D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051" y="2938828"/>
            <a:ext cx="4263691" cy="296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0F50EE2-8A24-AD91-621A-A9740739E0B3}"/>
              </a:ext>
            </a:extLst>
          </p:cNvPr>
          <p:cNvSpPr/>
          <p:nvPr/>
        </p:nvSpPr>
        <p:spPr>
          <a:xfrm>
            <a:off x="7002149" y="2933501"/>
            <a:ext cx="4263690" cy="2944597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26FE1CD-4282-75AF-4868-8652DCA4B4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2567" t="47282" r="-1" b="48710"/>
          <a:stretch>
            <a:fillRect/>
          </a:stretch>
        </p:blipFill>
        <p:spPr>
          <a:xfrm>
            <a:off x="9751718" y="4323109"/>
            <a:ext cx="1625197" cy="165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0D429A5-1C10-3E60-86A9-6FC5101E6269}"/>
              </a:ext>
            </a:extLst>
          </p:cNvPr>
          <p:cNvSpPr/>
          <p:nvPr/>
        </p:nvSpPr>
        <p:spPr>
          <a:xfrm>
            <a:off x="9751717" y="4323110"/>
            <a:ext cx="1625197" cy="191740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7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DBCB-6857-2FC9-D785-5B5632F0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006AC7-3245-F42F-621F-20A4589401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기타 기능 사항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4A84BC39-1CD8-4059-C5C9-9DF3F182EBF6}"/>
              </a:ext>
            </a:extLst>
          </p:cNvPr>
          <p:cNvSpPr txBox="1">
            <a:spLocks/>
          </p:cNvSpPr>
          <p:nvPr/>
        </p:nvSpPr>
        <p:spPr>
          <a:xfrm>
            <a:off x="276327" y="899412"/>
            <a:ext cx="5474768" cy="3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A607FD51-101D-9D0A-FEBB-457005AB7F0C}"/>
              </a:ext>
            </a:extLst>
          </p:cNvPr>
          <p:cNvSpPr txBox="1">
            <a:spLocks/>
          </p:cNvSpPr>
          <p:nvPr/>
        </p:nvSpPr>
        <p:spPr>
          <a:xfrm>
            <a:off x="384012" y="2460778"/>
            <a:ext cx="6164581" cy="715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EA88A69-1220-6AE1-925B-639B19CB68E4}"/>
              </a:ext>
            </a:extLst>
          </p:cNvPr>
          <p:cNvGrpSpPr/>
          <p:nvPr/>
        </p:nvGrpSpPr>
        <p:grpSpPr>
          <a:xfrm>
            <a:off x="3209517" y="732002"/>
            <a:ext cx="8833179" cy="5747124"/>
            <a:chOff x="2908434" y="868724"/>
            <a:chExt cx="8833179" cy="574712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1462B57-6070-2076-6573-9D6F73C95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68000"/>
                      </a14:imgEffect>
                      <a14:imgEffect>
                        <a14:brightnessContrast bright="-1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38754" y="899412"/>
              <a:ext cx="8772539" cy="568755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943D34E-AAD7-25A8-D4BE-9DB8B1E3BB6E}"/>
                </a:ext>
              </a:extLst>
            </p:cNvPr>
            <p:cNvGrpSpPr/>
            <p:nvPr/>
          </p:nvGrpSpPr>
          <p:grpSpPr>
            <a:xfrm>
              <a:off x="2908434" y="868724"/>
              <a:ext cx="2139950" cy="1173131"/>
              <a:chOff x="2693061" y="1385036"/>
              <a:chExt cx="2139950" cy="1173131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D549FCF1-73E8-F739-8984-F88587088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45" t="-469" r="3016" b="4259"/>
              <a:stretch>
                <a:fillRect/>
              </a:stretch>
            </p:blipFill>
            <p:spPr>
              <a:xfrm>
                <a:off x="2693061" y="1407061"/>
                <a:ext cx="2139950" cy="115110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80541EBC-D9ED-E596-0359-1293F52E462A}"/>
                  </a:ext>
                </a:extLst>
              </p:cNvPr>
              <p:cNvSpPr/>
              <p:nvPr/>
            </p:nvSpPr>
            <p:spPr>
              <a:xfrm>
                <a:off x="2693061" y="1385036"/>
                <a:ext cx="2139950" cy="1151106"/>
              </a:xfrm>
              <a:prstGeom prst="roundRect">
                <a:avLst>
                  <a:gd name="adj" fmla="val 2510"/>
                </a:avLst>
              </a:prstGeom>
              <a:solidFill>
                <a:srgbClr val="FFFFFF">
                  <a:alpha val="0"/>
                </a:srgbClr>
              </a:solidFill>
              <a:ln w="57150">
                <a:solidFill>
                  <a:srgbClr val="5555F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srgbClr val="5555FD"/>
                  </a:solidFill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DA5BADB-5323-10F2-CC99-09225C9C0537}"/>
                  </a:ext>
                </a:extLst>
              </p:cNvPr>
              <p:cNvSpPr/>
              <p:nvPr/>
            </p:nvSpPr>
            <p:spPr>
              <a:xfrm>
                <a:off x="2942165" y="2302031"/>
                <a:ext cx="1890846" cy="234112"/>
              </a:xfrm>
              <a:prstGeom prst="roundRect">
                <a:avLst>
                  <a:gd name="adj" fmla="val 2510"/>
                </a:avLst>
              </a:prstGeom>
              <a:solidFill>
                <a:srgbClr val="FFFFFF">
                  <a:alpha val="0"/>
                </a:srgbClr>
              </a:solidFill>
              <a:ln w="57150">
                <a:solidFill>
                  <a:srgbClr val="5555F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srgbClr val="5555FD"/>
                  </a:solidFill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D1817A02-26DA-4593-91F2-ED77A2F5249B}"/>
                </a:ext>
              </a:extLst>
            </p:cNvPr>
            <p:cNvGrpSpPr/>
            <p:nvPr/>
          </p:nvGrpSpPr>
          <p:grpSpPr>
            <a:xfrm>
              <a:off x="5249360" y="890749"/>
              <a:ext cx="5290625" cy="3462176"/>
              <a:chOff x="5249360" y="890749"/>
              <a:chExt cx="5290625" cy="3462176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773FAA24-C7B0-3890-D685-C966DCC66C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5676" r="13756" b="39530"/>
              <a:stretch>
                <a:fillRect/>
              </a:stretch>
            </p:blipFill>
            <p:spPr>
              <a:xfrm>
                <a:off x="5249360" y="928289"/>
                <a:ext cx="5290625" cy="342463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55E831D-3E28-8718-E75B-2261AF22AE2A}"/>
                  </a:ext>
                </a:extLst>
              </p:cNvPr>
              <p:cNvSpPr/>
              <p:nvPr/>
            </p:nvSpPr>
            <p:spPr>
              <a:xfrm>
                <a:off x="5267168" y="890749"/>
                <a:ext cx="5272817" cy="3462176"/>
              </a:xfrm>
              <a:prstGeom prst="roundRect">
                <a:avLst>
                  <a:gd name="adj" fmla="val 2510"/>
                </a:avLst>
              </a:prstGeom>
              <a:solidFill>
                <a:srgbClr val="FFFFFF">
                  <a:alpha val="0"/>
                </a:srgbClr>
              </a:solidFill>
              <a:ln w="57150">
                <a:solidFill>
                  <a:srgbClr val="5555F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srgbClr val="5555FD"/>
                  </a:solidFill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097062-6114-9895-82FF-3F34591D85B3}"/>
                </a:ext>
              </a:extLst>
            </p:cNvPr>
            <p:cNvGrpSpPr/>
            <p:nvPr/>
          </p:nvGrpSpPr>
          <p:grpSpPr>
            <a:xfrm>
              <a:off x="7325023" y="4932062"/>
              <a:ext cx="4416590" cy="1683786"/>
              <a:chOff x="7295751" y="5103703"/>
              <a:chExt cx="4289038" cy="1483268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E1B26C7A-E510-ECF5-AE9F-5111914DF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0599" t="74776" r="1663" b="278"/>
              <a:stretch>
                <a:fillRect/>
              </a:stretch>
            </p:blipFill>
            <p:spPr>
              <a:xfrm>
                <a:off x="7295751" y="5103703"/>
                <a:ext cx="4289038" cy="145316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3E5C65EA-A059-7DA9-5A13-95A4F4C322A8}"/>
                  </a:ext>
                </a:extLst>
              </p:cNvPr>
              <p:cNvSpPr/>
              <p:nvPr/>
            </p:nvSpPr>
            <p:spPr>
              <a:xfrm>
                <a:off x="7295752" y="5103703"/>
                <a:ext cx="4289037" cy="1483268"/>
              </a:xfrm>
              <a:prstGeom prst="roundRect">
                <a:avLst>
                  <a:gd name="adj" fmla="val 2510"/>
                </a:avLst>
              </a:prstGeom>
              <a:solidFill>
                <a:srgbClr val="FFFFFF">
                  <a:alpha val="0"/>
                </a:srgbClr>
              </a:solidFill>
              <a:ln w="57150">
                <a:solidFill>
                  <a:srgbClr val="5555F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srgbClr val="5555FD"/>
                  </a:solidFill>
                </a:endParaRPr>
              </a:p>
            </p:txBody>
          </p:sp>
        </p:grpSp>
      </p:grp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D943BCC3-9368-D69D-255A-04E9ADB96675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1584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CSV Export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833B9D-3891-75B1-2559-E7984514A3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326" y="2047833"/>
            <a:ext cx="2770232" cy="3117272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217A294-7E4B-22DF-1A6E-2EB1384E24A5}"/>
              </a:ext>
            </a:extLst>
          </p:cNvPr>
          <p:cNvSpPr/>
          <p:nvPr/>
        </p:nvSpPr>
        <p:spPr>
          <a:xfrm>
            <a:off x="246006" y="2047833"/>
            <a:ext cx="2774413" cy="3117272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066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3D00-A32D-A850-993A-BB374A22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F8A00638-FF27-792E-07D7-027EB9D06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4000"/>
                    </a14:imgEffect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6669" y="643891"/>
            <a:ext cx="8881461" cy="59129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6A7A70A-B133-01B3-65AC-9F5F18555B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기타 기능 사항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2106720A-75C0-2614-AC03-A1FA6E4D5A38}"/>
              </a:ext>
            </a:extLst>
          </p:cNvPr>
          <p:cNvSpPr txBox="1">
            <a:spLocks/>
          </p:cNvSpPr>
          <p:nvPr/>
        </p:nvSpPr>
        <p:spPr>
          <a:xfrm>
            <a:off x="276327" y="899412"/>
            <a:ext cx="5474768" cy="3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127892FE-6B2B-C1E6-D332-A03DA2E8D793}"/>
              </a:ext>
            </a:extLst>
          </p:cNvPr>
          <p:cNvSpPr txBox="1">
            <a:spLocks/>
          </p:cNvSpPr>
          <p:nvPr/>
        </p:nvSpPr>
        <p:spPr>
          <a:xfrm>
            <a:off x="384012" y="2460778"/>
            <a:ext cx="6164581" cy="715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1C437022-5708-345D-EB3C-78297EE1D329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158425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파싱 </a:t>
            </a:r>
            <a:r>
              <a:rPr lang="ko-KR" altLang="en-US" dirty="0" err="1"/>
              <a:t>진행율</a:t>
            </a:r>
            <a:r>
              <a:rPr lang="ko-KR" altLang="en-US" dirty="0"/>
              <a:t> 표시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예외처리 및 경고 표시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Data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Format </a:t>
            </a:r>
            <a:r>
              <a:rPr lang="ko-KR" altLang="en-US" dirty="0">
                <a:solidFill>
                  <a:srgbClr val="C00000"/>
                </a:solidFill>
              </a:rPr>
              <a:t>차이 </a:t>
            </a:r>
            <a:r>
              <a:rPr lang="en-US" altLang="ko-KR" dirty="0">
                <a:solidFill>
                  <a:srgbClr val="C00000"/>
                </a:solidFill>
              </a:rPr>
              <a:t>- </a:t>
            </a:r>
            <a:r>
              <a:rPr lang="ko-KR" altLang="en-US" dirty="0">
                <a:solidFill>
                  <a:srgbClr val="C00000"/>
                </a:solidFill>
              </a:rPr>
              <a:t>경고</a:t>
            </a:r>
            <a:endParaRPr lang="en-US" altLang="ko-KR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B7F1BD6-3C32-7411-B3EE-BB941AF179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980" t="42113" r="31286" b="36274"/>
          <a:stretch>
            <a:fillRect/>
          </a:stretch>
        </p:blipFill>
        <p:spPr>
          <a:xfrm>
            <a:off x="7627399" y="1953791"/>
            <a:ext cx="3982247" cy="1764700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A4DC033-9B45-92DA-2B4F-AE33B3FD1992}"/>
              </a:ext>
            </a:extLst>
          </p:cNvPr>
          <p:cNvSpPr/>
          <p:nvPr/>
        </p:nvSpPr>
        <p:spPr>
          <a:xfrm>
            <a:off x="7627398" y="1953791"/>
            <a:ext cx="3982247" cy="1792628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0302937-ABF7-637F-CE86-B8B358155B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0" t="56186" r="50611" b="38579"/>
          <a:stretch>
            <a:fillRect/>
          </a:stretch>
        </p:blipFill>
        <p:spPr>
          <a:xfrm>
            <a:off x="1978641" y="3898820"/>
            <a:ext cx="5607020" cy="399186"/>
          </a:xfrm>
          <a:prstGeom prst="rect">
            <a:avLst/>
          </a:prstGeom>
        </p:spPr>
      </p:pic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4839590-689A-9976-DF28-EC12B6B8F516}"/>
              </a:ext>
            </a:extLst>
          </p:cNvPr>
          <p:cNvSpPr/>
          <p:nvPr/>
        </p:nvSpPr>
        <p:spPr>
          <a:xfrm>
            <a:off x="1978640" y="3898818"/>
            <a:ext cx="5607020" cy="399187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996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48D7-C9F4-8008-D262-337C096AB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9BB8C73-1F8A-651E-9FFE-7C9E16DD82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02.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601F-5C13-7F08-C848-CE2A337DE5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39156" y="2649310"/>
            <a:ext cx="6752843" cy="914400"/>
          </a:xfrm>
        </p:spPr>
        <p:txBody>
          <a:bodyPr>
            <a:normAutofit/>
          </a:bodyPr>
          <a:lstStyle/>
          <a:p>
            <a:r>
              <a:rPr lang="ko-KR" altLang="en-US" dirty="0"/>
              <a:t>설계 변경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8500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ED38A-4AE0-D9ED-F712-F900B638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0023F8-C2F7-7A07-3D0D-3F5D14697300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1584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Command Class </a:t>
            </a:r>
            <a:r>
              <a:rPr lang="ko-KR" altLang="en-US" dirty="0"/>
              <a:t>추가 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79DCD27-7320-5A44-AD31-DAC681F628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Command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B58D28-4E35-D7F5-3075-AFC28B90B8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26"/>
          <a:stretch>
            <a:fillRect/>
          </a:stretch>
        </p:blipFill>
        <p:spPr>
          <a:xfrm>
            <a:off x="276327" y="2682750"/>
            <a:ext cx="3236307" cy="2187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25C87-B27C-C893-691C-5295EF6A24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5" t="28942" r="1833"/>
          <a:stretch>
            <a:fillRect/>
          </a:stretch>
        </p:blipFill>
        <p:spPr>
          <a:xfrm>
            <a:off x="3851099" y="869795"/>
            <a:ext cx="8340901" cy="5813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E18AA0-26EA-48D0-CBA1-A1E13EF8C5A1}"/>
              </a:ext>
            </a:extLst>
          </p:cNvPr>
          <p:cNvSpPr/>
          <p:nvPr/>
        </p:nvSpPr>
        <p:spPr>
          <a:xfrm>
            <a:off x="276327" y="2682751"/>
            <a:ext cx="3236307" cy="2187502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074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85E1-157C-E168-1AAF-40DD797B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EA3236-2D7C-8829-9F4C-B7F66884B0BF}"/>
              </a:ext>
            </a:extLst>
          </p:cNvPr>
          <p:cNvSpPr txBox="1">
            <a:spLocks/>
          </p:cNvSpPr>
          <p:nvPr/>
        </p:nvSpPr>
        <p:spPr>
          <a:xfrm>
            <a:off x="276327" y="1060555"/>
            <a:ext cx="9143898" cy="1584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영상처리 과제 </a:t>
            </a:r>
            <a:r>
              <a:rPr lang="en-US" altLang="ko-KR" dirty="0"/>
              <a:t>DLL </a:t>
            </a:r>
            <a:r>
              <a:rPr lang="ko-KR" altLang="en-US" dirty="0"/>
              <a:t>이식 시도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0000"/>
                </a:solidFill>
              </a:rPr>
              <a:t>프로젝트 설정 이슈 </a:t>
            </a:r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>
                <a:solidFill>
                  <a:srgbClr val="FF0000"/>
                </a:solidFill>
              </a:rPr>
              <a:t> 실패 </a:t>
            </a:r>
            <a:r>
              <a:rPr lang="en-US" altLang="ko-KR" dirty="0">
                <a:solidFill>
                  <a:srgbClr val="FF0000"/>
                </a:solidFill>
              </a:rPr>
              <a:t>-&gt; Utils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8100676-40F0-19E8-552B-D4FFA73C7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Defect Image Process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A59E6C0-E057-4D82-D7BE-F18F32242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7" r="336"/>
          <a:stretch>
            <a:fillRect/>
          </a:stretch>
        </p:blipFill>
        <p:spPr bwMode="auto">
          <a:xfrm>
            <a:off x="0" y="1895129"/>
            <a:ext cx="8958868" cy="4636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11876E-8401-5388-8F39-E059C10E59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132"/>
          <a:stretch>
            <a:fillRect/>
          </a:stretch>
        </p:blipFill>
        <p:spPr>
          <a:xfrm>
            <a:off x="9235195" y="1486050"/>
            <a:ext cx="2874504" cy="194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9716CD-A1D3-41AC-3073-D8F601DF9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883" y="3854495"/>
            <a:ext cx="2907816" cy="194295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2B62A1-4B8C-8745-88B9-56E61C3E6DEF}"/>
              </a:ext>
            </a:extLst>
          </p:cNvPr>
          <p:cNvSpPr/>
          <p:nvPr/>
        </p:nvSpPr>
        <p:spPr>
          <a:xfrm>
            <a:off x="9201883" y="4484077"/>
            <a:ext cx="2907816" cy="887873"/>
          </a:xfrm>
          <a:prstGeom prst="roundRect">
            <a:avLst>
              <a:gd name="adj" fmla="val 2510"/>
            </a:avLst>
          </a:prstGeom>
          <a:solidFill>
            <a:srgbClr val="FFFFFF">
              <a:alpha val="0"/>
            </a:srgbClr>
          </a:solidFill>
          <a:ln w="57150">
            <a:solidFill>
              <a:srgbClr val="555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5555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491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 txBox="1">
            <a:spLocks/>
          </p:cNvSpPr>
          <p:nvPr/>
        </p:nvSpPr>
        <p:spPr>
          <a:xfrm>
            <a:off x="12299745" y="11516346"/>
            <a:ext cx="40957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ln>
                  <a:solidFill>
                    <a:srgbClr val="998467">
                      <a:alpha val="0"/>
                    </a:srgbClr>
                  </a:solidFill>
                </a:ln>
                <a:solidFill>
                  <a:schemeClr val="tx1">
                    <a:tint val="75000"/>
                  </a:schemeClr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CB18FE-46AA-4BE0-88C7-F5AF093AC2C4}" type="slidenum">
              <a:rPr lang="ko-KR" altLang="en-US" smtClean="0">
                <a:solidFill>
                  <a:srgbClr val="C00000"/>
                </a:solidFill>
              </a:rPr>
              <a:pPr/>
              <a:t>18</a:t>
            </a:fld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09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ed6c54-e66b-4158-b288-34e409d8b249" xsi:nil="true"/>
    <lcf76f155ced4ddcb4097134ff3c332f xmlns="f6ed9a63-f138-448a-bdaa-ea16a4c1649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831F78AA9756C44A0E98822651D84C6" ma:contentTypeVersion="17" ma:contentTypeDescription="새 문서를 만듭니다." ma:contentTypeScope="" ma:versionID="d5d5b2c4c8e1dd569b570341750d1320">
  <xsd:schema xmlns:xsd="http://www.w3.org/2001/XMLSchema" xmlns:xs="http://www.w3.org/2001/XMLSchema" xmlns:p="http://schemas.microsoft.com/office/2006/metadata/properties" xmlns:ns2="f6ed9a63-f138-448a-bdaa-ea16a4c16493" xmlns:ns3="a0ed6c54-e66b-4158-b288-34e409d8b249" targetNamespace="http://schemas.microsoft.com/office/2006/metadata/properties" ma:root="true" ma:fieldsID="e4c87dd5280524a987f1ec18a59f5fee" ns2:_="" ns3:_="">
    <xsd:import namespace="f6ed9a63-f138-448a-bdaa-ea16a4c16493"/>
    <xsd:import namespace="a0ed6c54-e66b-4158-b288-34e409d8b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ed9a63-f138-448a-bdaa-ea16a4c164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1810d4f8-e228-4eb6-8de4-df9f2916e8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d6c54-e66b-4158-b288-34e409d8b24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7844fd7-2201-4b0d-8263-b557f8741e84}" ma:internalName="TaxCatchAll" ma:showField="CatchAllData" ma:web="a0ed6c54-e66b-4158-b288-34e409d8b2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655753-57EE-420B-BE2F-00787092D55E}">
  <ds:schemaRefs>
    <ds:schemaRef ds:uri="http://www.w3.org/XML/1998/namespace"/>
    <ds:schemaRef ds:uri="http://schemas.microsoft.com/office/2006/documentManagement/types"/>
    <ds:schemaRef ds:uri="http://purl.org/dc/elements/1.1/"/>
    <ds:schemaRef ds:uri="a0ed6c54-e66b-4158-b288-34e409d8b249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f6ed9a63-f138-448a-bdaa-ea16a4c1649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AA469F7-E466-4805-80A7-D107484366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ed9a63-f138-448a-bdaa-ea16a4c16493"/>
    <ds:schemaRef ds:uri="a0ed6c54-e66b-4158-b288-34e409d8b2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E1378E-A752-4FB5-A280-1EC738D77E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12722</TotalTime>
  <Words>503</Words>
  <Application>Microsoft Office PowerPoint</Application>
  <PresentationFormat>와이드스크린</PresentationFormat>
  <Paragraphs>139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Arial</vt:lpstr>
      <vt:lpstr>Helvetica</vt:lpstr>
      <vt:lpstr>Tahoma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차지혜</dc:creator>
  <cp:lastModifiedBy>안광윤</cp:lastModifiedBy>
  <cp:revision>1249</cp:revision>
  <dcterms:created xsi:type="dcterms:W3CDTF">2020-12-23T01:27:59Z</dcterms:created>
  <dcterms:modified xsi:type="dcterms:W3CDTF">2025-10-27T07:00:28Z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0x0101000831F78AA9756C44A0E98822651D84C6</vt:lpwstr>
  </property>
  <property fmtid="{D5CDD505-2E9C-101B-9397-08002B2CF9AE}" pid="3" name="MediaServiceImageTags">
    <vt:lpwstr/>
  </property>
</Properties>
</file>